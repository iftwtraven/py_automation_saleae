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heme/theme3.xml" ContentType="application/vnd.openxmlformats-officedocument.them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27"/>
  </p:notesMasterIdLst>
  <p:handoutMasterIdLst>
    <p:handoutMasterId r:id="rId28"/>
  </p:handoutMasterIdLst>
  <p:sldIdLst>
    <p:sldId id="267" r:id="rId6"/>
    <p:sldId id="2012" r:id="rId7"/>
    <p:sldId id="347" r:id="rId8"/>
    <p:sldId id="2011" r:id="rId9"/>
    <p:sldId id="2004" r:id="rId10"/>
    <p:sldId id="2006" r:id="rId11"/>
    <p:sldId id="2005" r:id="rId12"/>
    <p:sldId id="2009" r:id="rId13"/>
    <p:sldId id="2008" r:id="rId14"/>
    <p:sldId id="2013" r:id="rId15"/>
    <p:sldId id="259" r:id="rId16"/>
    <p:sldId id="270" r:id="rId17"/>
    <p:sldId id="269" r:id="rId18"/>
    <p:sldId id="2016" r:id="rId19"/>
    <p:sldId id="277" r:id="rId20"/>
    <p:sldId id="276" r:id="rId21"/>
    <p:sldId id="2014" r:id="rId22"/>
    <p:sldId id="275" r:id="rId23"/>
    <p:sldId id="2015" r:id="rId24"/>
    <p:sldId id="278" r:id="rId25"/>
    <p:sldId id="257" r:id="rId26"/>
  </p:sldIdLst>
  <p:sldSz cx="12192000" cy="6858000"/>
  <p:notesSz cx="7099300" cy="10234613"/>
  <p:custDataLst>
    <p:tags r:id="rId2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4" autoAdjust="0"/>
    <p:restoredTop sz="94696" autoAdjust="0"/>
  </p:normalViewPr>
  <p:slideViewPr>
    <p:cSldViewPr snapToObjects="1" showGuides="1">
      <p:cViewPr varScale="1">
        <p:scale>
          <a:sx n="95" d="100"/>
          <a:sy n="95" d="100"/>
        </p:scale>
        <p:origin x="84" y="49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theme" Target="../theme/theme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2023.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 Mrz 2023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image" Target="../media/image5.png"/><Relationship Id="rId2" Type="http://schemas.openxmlformats.org/officeDocument/2006/relationships/tags" Target="../tags/tag194.xml"/><Relationship Id="rId1" Type="http://schemas.openxmlformats.org/officeDocument/2006/relationships/theme" Target="../theme/theme2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2023.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 Mrz 2023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FX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FXSHAPE">
            <a:extLst>
              <a:ext uri="{FF2B5EF4-FFF2-40B4-BE49-F238E27FC236}">
                <a16:creationId xmlns:a16="http://schemas.microsoft.com/office/drawing/2014/main" id="{39840829-9262-4697-A804-B7D874ED57A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087355" y="6541008"/>
            <a:ext cx="384048" cy="304800"/>
          </a:xfrm>
        </p:spPr>
        <p:txBody>
          <a:bodyPr wrap="none" lIns="0" tIns="0" rIns="0" bIns="0" anchor="ctr">
            <a:noAutofit/>
          </a:bodyPr>
          <a:lstStyle>
            <a:lvl1pPr algn="r" fontAlgn="t">
              <a:buClr>
                <a:srgbClr val="928285"/>
              </a:buClr>
              <a:defRPr sz="1333" b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fld id="{ACA6C892-334C-411F-A2F0-15C6AC846B3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IFXSHAPE"/>
          <p:cNvSpPr>
            <a:spLocks noGrp="1"/>
          </p:cNvSpPr>
          <p:nvPr>
            <p:ph type="title" hasCustomPrompt="1"/>
          </p:nvPr>
        </p:nvSpPr>
        <p:spPr>
          <a:xfrm>
            <a:off x="335360" y="188720"/>
            <a:ext cx="9631680" cy="72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7" name="IFXSHAPE"/>
          <p:cNvSpPr>
            <a:spLocks noGrp="1"/>
          </p:cNvSpPr>
          <p:nvPr>
            <p:ph sz="quarter" idx="13" hasCustomPrompt="1"/>
          </p:nvPr>
        </p:nvSpPr>
        <p:spPr>
          <a:xfrm>
            <a:off x="334434" y="1268414"/>
            <a:ext cx="11522207" cy="5113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A84CC3EE-574C-0AEE-5DEE-4395361D54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wrap="none" lIns="0" tIns="0" rIns="0" bIns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9" name="IFXSHAPE">
            <a:extLst>
              <a:ext uri="{FF2B5EF4-FFF2-40B4-BE49-F238E27FC236}">
                <a16:creationId xmlns:a16="http://schemas.microsoft.com/office/drawing/2014/main" id="{21BFE493-DD2A-D375-1183-354BF0541CA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wrap="none" lIns="0" tIns="0" rIns="0" bIns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031147978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FX_Title_and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FXSHAPE">
            <a:extLst>
              <a:ext uri="{FF2B5EF4-FFF2-40B4-BE49-F238E27FC236}">
                <a16:creationId xmlns:a16="http://schemas.microsoft.com/office/drawing/2014/main" id="{3614D37E-07DB-4B27-A6A2-B258C85043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087355" y="6541008"/>
            <a:ext cx="384048" cy="304800"/>
          </a:xfrm>
        </p:spPr>
        <p:txBody>
          <a:bodyPr wrap="none" lIns="0" tIns="0" rIns="0" bIns="0" anchor="ctr">
            <a:noAutofit/>
          </a:bodyPr>
          <a:lstStyle>
            <a:lvl1pPr algn="r" fontAlgn="t">
              <a:buClr>
                <a:srgbClr val="928285"/>
              </a:buClr>
              <a:defRPr sz="1333" b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fld id="{65EF9BA8-1BD9-4D4A-BC37-7699F0B2D45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IFXSHAPE"/>
          <p:cNvSpPr>
            <a:spLocks noGrp="1"/>
          </p:cNvSpPr>
          <p:nvPr>
            <p:ph type="title" hasCustomPrompt="1"/>
          </p:nvPr>
        </p:nvSpPr>
        <p:spPr>
          <a:xfrm>
            <a:off x="335360" y="188720"/>
            <a:ext cx="9631680" cy="72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7" name="IFXSHAPE"/>
          <p:cNvSpPr>
            <a:spLocks noGrp="1"/>
          </p:cNvSpPr>
          <p:nvPr>
            <p:ph sz="quarter" idx="13" hasCustomPrompt="1"/>
          </p:nvPr>
        </p:nvSpPr>
        <p:spPr>
          <a:xfrm>
            <a:off x="334434" y="1268414"/>
            <a:ext cx="5664629" cy="5113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IFXSHAPE"/>
          <p:cNvSpPr>
            <a:spLocks noGrp="1"/>
          </p:cNvSpPr>
          <p:nvPr>
            <p:ph sz="quarter" idx="14" hasCustomPrompt="1"/>
          </p:nvPr>
        </p:nvSpPr>
        <p:spPr>
          <a:xfrm>
            <a:off x="6191251" y="1268414"/>
            <a:ext cx="5665389" cy="5113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C562406B-9CF6-B3CA-77C7-7BE5214660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wrap="none" lIns="0" tIns="0" rIns="0" bIns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10" name="IFXSHAPE">
            <a:extLst>
              <a:ext uri="{FF2B5EF4-FFF2-40B4-BE49-F238E27FC236}">
                <a16:creationId xmlns:a16="http://schemas.microsoft.com/office/drawing/2014/main" id="{CD420AB8-FD72-B44C-518E-DE3A6068667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wrap="none" lIns="0" tIns="0" rIns="0" bIns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69500757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  <p:sldLayoutId id="2147483757" r:id="rId19"/>
    <p:sldLayoutId id="2147483758" r:id="rId20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5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589B28-D26E-44F4-8C62-FEE4AAED4A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FB27639-D1FE-4EB7-81D0-019FC186F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Traven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B1C68C-D054-4F8D-AA7A-F778CCFFF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IFTW WCS issue report flow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FF28-0883-405B-A8DD-D42393A2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0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9274460-5D35-BD96-5B46-512DDB9D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Microsoft Dynamic365 – 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issue system IFX use globally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17DE3-22BF-2C29-319B-AE44B8D1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747F1-CB31-8359-D968-9AEE676E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0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EAF84B-79E0-036E-BDE4-C4D56EAC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Registration – www.Infineon.com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C24BF-56E4-860E-D8E1-BCFF7B758D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2" name="IFXSHAPE">
            <a:extLst>
              <a:ext uri="{FF2B5EF4-FFF2-40B4-BE49-F238E27FC236}">
                <a16:creationId xmlns:a16="http://schemas.microsoft.com/office/drawing/2014/main" id="{E479FE7C-1D37-666D-7BED-F47F8CEE90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7" name="IFXSHAPE">
            <a:extLst>
              <a:ext uri="{FF2B5EF4-FFF2-40B4-BE49-F238E27FC236}">
                <a16:creationId xmlns:a16="http://schemas.microsoft.com/office/drawing/2014/main" id="{57E68020-3905-27E6-18DB-F0A885267B0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90FCB7-D4BE-1022-0F93-2C5CE4457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344" y="904268"/>
            <a:ext cx="7933215" cy="546147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5CA77A-2044-4A56-979F-18667A80EAB4}"/>
              </a:ext>
            </a:extLst>
          </p:cNvPr>
          <p:cNvSpPr/>
          <p:nvPr/>
        </p:nvSpPr>
        <p:spPr bwMode="auto">
          <a:xfrm>
            <a:off x="7999408" y="2780928"/>
            <a:ext cx="1512168" cy="432048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4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Case creation – Subject</a:t>
            </a:r>
          </a:p>
        </p:txBody>
      </p:sp>
      <p:pic>
        <p:nvPicPr>
          <p:cNvPr id="12" name="Content Placeholder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AB0DB46-AF10-C1F2-F25B-8DA6C36A41A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85" y="1267884"/>
            <a:ext cx="5196496" cy="5113867"/>
          </a:xfr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5297EE-6A7E-51D1-F247-8F4E884429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[-</a:t>
            </a:r>
            <a:r>
              <a:rPr lang="en-GB" sz="2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oem</a:t>
            </a:r>
            <a:r>
              <a:rPr lang="en-GB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][-</a:t>
            </a:r>
            <a:r>
              <a:rPr lang="en-GB" sz="2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odm</a:t>
            </a:r>
            <a:r>
              <a:rPr lang="en-GB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][-</a:t>
            </a:r>
            <a:r>
              <a:rPr lang="en-GB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project-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][-</a:t>
            </a:r>
            <a:r>
              <a:rPr lang="en-GB" sz="2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GB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] </a:t>
            </a:r>
            <a:r>
              <a:rPr lang="en-GB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short description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100 words as maximum</a:t>
            </a:r>
          </a:p>
          <a:p>
            <a:pPr marL="0" indent="0">
              <a:buNone/>
            </a:pPr>
            <a:endParaRPr lang="en-GB" sz="24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000" i="1" dirty="0">
                <a:latin typeface="Calibri" panose="020F0502020204030204" pitchFamily="34" charset="0"/>
                <a:cs typeface="Calibri" panose="020F0502020204030204" pitchFamily="34" charset="0"/>
              </a:rPr>
              <a:t>e.g.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[HP][IEC][Hook2][OBS1234567] power button event lost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[HP][TPV][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Deora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] PV1 power consumption too high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13132-5558-BAFC-37FF-14FE66914A93}"/>
              </a:ext>
            </a:extLst>
          </p:cNvPr>
          <p:cNvSpPr/>
          <p:nvPr/>
        </p:nvSpPr>
        <p:spPr bwMode="auto">
          <a:xfrm>
            <a:off x="4799424" y="1293410"/>
            <a:ext cx="288032" cy="1034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GB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IFXSHAPE">
            <a:extLst>
              <a:ext uri="{FF2B5EF4-FFF2-40B4-BE49-F238E27FC236}">
                <a16:creationId xmlns:a16="http://schemas.microsoft.com/office/drawing/2014/main" id="{3A375686-76FB-B68C-AA1E-3FB985E878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5" name="IFXSHAPE">
            <a:extLst>
              <a:ext uri="{FF2B5EF4-FFF2-40B4-BE49-F238E27FC236}">
                <a16:creationId xmlns:a16="http://schemas.microsoft.com/office/drawing/2014/main" id="{DE452B0F-6E02-13AF-39E2-ECD37BA70A9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CE7063-AD23-E561-8C2B-734EB0CB8CA3}"/>
              </a:ext>
            </a:extLst>
          </p:cNvPr>
          <p:cNvSpPr/>
          <p:nvPr/>
        </p:nvSpPr>
        <p:spPr bwMode="auto">
          <a:xfrm>
            <a:off x="911424" y="2420888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2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Case creation – Description</a:t>
            </a:r>
          </a:p>
        </p:txBody>
      </p:sp>
      <p:pic>
        <p:nvPicPr>
          <p:cNvPr id="12" name="Content Placeholder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AB0DB46-AF10-C1F2-F25B-8DA6C36A41A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85" y="1267884"/>
            <a:ext cx="5196496" cy="5113867"/>
          </a:xfr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5297EE-6A7E-51D1-F247-8F4E884429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Include these information and designate to Infineon FAE (email)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Firmware / hardware version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Expected behaviour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Failure symptom 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Failure rate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Reproduce steps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Function recovery method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Other necessary information</a:t>
            </a:r>
          </a:p>
          <a:p>
            <a:endParaRPr lang="en-GB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13132-5558-BAFC-37FF-14FE66914A93}"/>
              </a:ext>
            </a:extLst>
          </p:cNvPr>
          <p:cNvSpPr/>
          <p:nvPr/>
        </p:nvSpPr>
        <p:spPr bwMode="auto">
          <a:xfrm>
            <a:off x="4799424" y="1293410"/>
            <a:ext cx="288032" cy="1034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GB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696B8-F8D8-40EE-A613-1AA7934F1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470" y="5157192"/>
            <a:ext cx="6001879" cy="10682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IFXSHAPE">
            <a:extLst>
              <a:ext uri="{FF2B5EF4-FFF2-40B4-BE49-F238E27FC236}">
                <a16:creationId xmlns:a16="http://schemas.microsoft.com/office/drawing/2014/main" id="{1E9610F5-5171-A189-43FA-AC8B55DBB9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6" name="IFXSHAPE">
            <a:extLst>
              <a:ext uri="{FF2B5EF4-FFF2-40B4-BE49-F238E27FC236}">
                <a16:creationId xmlns:a16="http://schemas.microsoft.com/office/drawing/2014/main" id="{3E1432EB-F6D8-2E0F-389C-648619A1716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BFD1C8-8B61-BED0-37A9-BDDB3973688F}"/>
              </a:ext>
            </a:extLst>
          </p:cNvPr>
          <p:cNvSpPr/>
          <p:nvPr/>
        </p:nvSpPr>
        <p:spPr bwMode="auto">
          <a:xfrm>
            <a:off x="911424" y="4149080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80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Case creation – Collaboration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5297EE-6A7E-51D1-F247-8F4E884429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Customers can add collaborator themselves in the Portal for their colleagues or other non-Infineon people. If they need to add Infineon colleagues, they need to request via discussion board.</a:t>
            </a:r>
          </a:p>
        </p:txBody>
      </p:sp>
      <p:pic>
        <p:nvPicPr>
          <p:cNvPr id="16" name="Content Placeholder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34F2CD51-115D-D863-40EA-9D0CB1B7C6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3" y="1366638"/>
            <a:ext cx="5664200" cy="4916359"/>
          </a:xfrm>
        </p:spPr>
      </p:pic>
      <p:sp>
        <p:nvSpPr>
          <p:cNvPr id="2" name="IFXSHAPE">
            <a:extLst>
              <a:ext uri="{FF2B5EF4-FFF2-40B4-BE49-F238E27FC236}">
                <a16:creationId xmlns:a16="http://schemas.microsoft.com/office/drawing/2014/main" id="{E92AEDFA-0B50-72EE-7167-878321C9798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5" name="IFXSHAPE">
            <a:extLst>
              <a:ext uri="{FF2B5EF4-FFF2-40B4-BE49-F238E27FC236}">
                <a16:creationId xmlns:a16="http://schemas.microsoft.com/office/drawing/2014/main" id="{B59A49CE-9EA2-9CBD-F1DC-D886DAFFCB3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69E4D3-B523-F1A4-9DFF-4040EA97139D}"/>
              </a:ext>
            </a:extLst>
          </p:cNvPr>
          <p:cNvSpPr/>
          <p:nvPr/>
        </p:nvSpPr>
        <p:spPr bwMode="auto">
          <a:xfrm>
            <a:off x="191344" y="2739400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3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Case creation – Attachment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5297EE-6A7E-51D1-F247-8F4E884429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Basic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CC logs in CYPD4500 PD3.0 / PD2.0</a:t>
            </a:r>
          </a:p>
          <a:p>
            <a:pPr lvl="1"/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Ellisys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C-Tracker logs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SALEAE 6.25Mbps+ (digital), 1.625Mbps+ (analogue)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LA files with toolchain name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Others (test reports, screenshots or anything helpful to issues)</a:t>
            </a: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Recommended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CC with SALEAE Pro at 1.2V digital (IFTW Logger)</a:t>
            </a:r>
          </a:p>
        </p:txBody>
      </p:sp>
      <p:pic>
        <p:nvPicPr>
          <p:cNvPr id="8" name="Content Placeholder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C97427E-76BD-478F-727B-1FC33AD6B63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3" y="1366638"/>
            <a:ext cx="5664200" cy="4916359"/>
          </a:xfrm>
        </p:spPr>
      </p:pic>
      <p:sp>
        <p:nvSpPr>
          <p:cNvPr id="2" name="IFXSHAPE">
            <a:extLst>
              <a:ext uri="{FF2B5EF4-FFF2-40B4-BE49-F238E27FC236}">
                <a16:creationId xmlns:a16="http://schemas.microsoft.com/office/drawing/2014/main" id="{302901DC-CCDA-2ECB-A6DF-F860EA2009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5" name="IFXSHAPE">
            <a:extLst>
              <a:ext uri="{FF2B5EF4-FFF2-40B4-BE49-F238E27FC236}">
                <a16:creationId xmlns:a16="http://schemas.microsoft.com/office/drawing/2014/main" id="{09A4EFB5-8B25-D075-C869-3DABEC0E740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803CAD-D086-17AB-3BA5-CEE9AF1D17D4}"/>
              </a:ext>
            </a:extLst>
          </p:cNvPr>
          <p:cNvSpPr/>
          <p:nvPr/>
        </p:nvSpPr>
        <p:spPr bwMode="auto">
          <a:xfrm>
            <a:off x="191344" y="4165609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78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Case creation – Attachment format and file size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5297EE-6A7E-51D1-F247-8F4E884429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Upload limitation: 50MB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DO NOT overwrite if possible</a:t>
            </a: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Now allowed: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de;adp;app;asa;ashx;asmx;asp;bas;bat;cdx;cer;chm;class;cmd;com;config;cpl;crt;csh;dll;exe;fxp;hlp;hta;htr;htw;ida;idc;idq;inf;ins;isp;its;jar;js;jse;ksh;lnk;mad;maf;mag;mam;maq;mar;mas;mat;mau;mav;maw;mda;mdb;mde;mdt;mdw;mdz;msc;msh;msh1;msh1xml;msh2;msh2xml;mshxml;msi;msp;mst;ops;pcd;pif;prf;prg;printer;pst;reg;rem;scf;scr;sct;shb;shs;shtm;shtml;soap;stm;tmp;url;vb;vbe;vbs;vsmacros;vss;vst;vsw;ws;wsc;wsf;wsh.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C97427E-76BD-478F-727B-1FC33AD6B63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3" y="1366638"/>
            <a:ext cx="5664200" cy="4916359"/>
          </a:xfrm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72C361BB-A291-BB3E-A5B9-C32DBAF424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2337010"/>
            <a:ext cx="3799437" cy="189545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E80D14B-713D-18E7-67D3-2521BE8EEFAA}"/>
              </a:ext>
            </a:extLst>
          </p:cNvPr>
          <p:cNvSpPr/>
          <p:nvPr/>
        </p:nvSpPr>
        <p:spPr bwMode="auto">
          <a:xfrm>
            <a:off x="7464152" y="2972443"/>
            <a:ext cx="1632181" cy="312297"/>
          </a:xfrm>
          <a:prstGeom prst="ellipse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GB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IFXSHAPE">
            <a:extLst>
              <a:ext uri="{FF2B5EF4-FFF2-40B4-BE49-F238E27FC236}">
                <a16:creationId xmlns:a16="http://schemas.microsoft.com/office/drawing/2014/main" id="{1C74157E-BDF0-6BE5-C487-283E455AFB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6" name="IFXSHAPE">
            <a:extLst>
              <a:ext uri="{FF2B5EF4-FFF2-40B4-BE49-F238E27FC236}">
                <a16:creationId xmlns:a16="http://schemas.microsoft.com/office/drawing/2014/main" id="{282FC0F4-8664-2972-96B1-2C3E3D00C1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9650E0-D7A0-8836-4A23-385B4F07DED2}"/>
              </a:ext>
            </a:extLst>
          </p:cNvPr>
          <p:cNvSpPr/>
          <p:nvPr/>
        </p:nvSpPr>
        <p:spPr bwMode="auto">
          <a:xfrm>
            <a:off x="191344" y="4165609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3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Case creation – Discussion board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5297EE-6A7E-51D1-F247-8F4E884429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interaction section where there is exchange of information/comments between CRM users (Case owners, Collaborators) and portal users (Case creators). It provides options to add internal and external comments on the case.</a:t>
            </a:r>
            <a:endParaRPr lang="en-GB" sz="2400" dirty="0"/>
          </a:p>
        </p:txBody>
      </p:sp>
      <p:pic>
        <p:nvPicPr>
          <p:cNvPr id="11" name="Content Placeholder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92EA36CC-3A5E-DFC6-4AB4-FAB2338A0B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3" y="1366638"/>
            <a:ext cx="5664200" cy="4916359"/>
          </a:xfrm>
        </p:spPr>
      </p:pic>
      <p:sp>
        <p:nvSpPr>
          <p:cNvPr id="2" name="IFXSHAPE">
            <a:extLst>
              <a:ext uri="{FF2B5EF4-FFF2-40B4-BE49-F238E27FC236}">
                <a16:creationId xmlns:a16="http://schemas.microsoft.com/office/drawing/2014/main" id="{C64F68D6-DAE1-D3C8-7883-52D8D0FDF9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5" name="IFXSHAPE">
            <a:extLst>
              <a:ext uri="{FF2B5EF4-FFF2-40B4-BE49-F238E27FC236}">
                <a16:creationId xmlns:a16="http://schemas.microsoft.com/office/drawing/2014/main" id="{AC2B724E-8880-89A4-0345-41CE89DA3EA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376671-0F56-B7F2-54A5-F8FDBFF3BA49}"/>
              </a:ext>
            </a:extLst>
          </p:cNvPr>
          <p:cNvSpPr/>
          <p:nvPr/>
        </p:nvSpPr>
        <p:spPr bwMode="auto">
          <a:xfrm>
            <a:off x="191344" y="5126097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080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9274460-5D35-BD96-5B46-512DDB9D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IFTW WCS Logger – 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helper for log collection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17DE3-22BF-2C29-319B-AE44B8D1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747F1-CB31-8359-D968-9AEE676E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88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05 Banded Rows">
            <a:extLst>
              <a:ext uri="{FF2B5EF4-FFF2-40B4-BE49-F238E27FC236}">
                <a16:creationId xmlns:a16="http://schemas.microsoft.com/office/drawing/2014/main" id="{FA573056-D49F-F9CA-6750-954D61F68F74}"/>
              </a:ext>
            </a:extLst>
          </p:cNvPr>
          <p:cNvGraphicFramePr>
            <a:graphicFrameLocks noGrp="1"/>
          </p:cNvGraphicFramePr>
          <p:nvPr>
            <p:ph sz="quarter" idx="13"/>
            <p:custDataLst>
              <p:tags r:id="rId1"/>
            </p:custDataLst>
          </p:nvPr>
        </p:nvGraphicFramePr>
        <p:xfrm>
          <a:off x="334963" y="1268413"/>
          <a:ext cx="11520000" cy="4675632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368549">
                  <a:extLst>
                    <a:ext uri="{9D8B030D-6E8A-4147-A177-3AD203B41FA5}">
                      <a16:colId xmlns:a16="http://schemas.microsoft.com/office/drawing/2014/main" val="403855191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92548533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849339206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8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endParaRPr lang="en-GB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EVK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Checking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01009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HW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PCH_INT0#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PCH_INT1# </a:t>
                      </a:r>
                      <a:b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(Maple Ridge only)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PCH_SDA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PCH_SCL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BBR_PWR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BBR_RST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SBU1/2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APU_RST#</a:t>
                      </a:r>
                      <a:b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APU_INT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APU_SDA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APU_SCL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Retimer_SDA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Retimer_SCL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HPD</a:t>
                      </a:r>
                      <a:b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SBU1/2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MUX_SDA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MUX_SCL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HPD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SBU1/2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 the I/O behavior normal !?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 the SBU signal normal !?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18055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CC 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CC Log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CC Log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CC Log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 enter DP Alt mode?</a:t>
                      </a:r>
                    </a:p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 device issue the Attention HPD High message to Host?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33178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I2C 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PCH I2C Log</a:t>
                      </a:r>
                      <a:b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Retimer I2C Log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APU I2C Log</a:t>
                      </a:r>
                      <a:b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Retimer I2C Log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MUX I2C Log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Compare the PASS log and Fail log to dig out is anything abnormal.</a:t>
                      </a:r>
                      <a:endParaRPr lang="zh-TW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81687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6B142A3-3E18-4302-85FC-39EF0216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SOP for log collecting – The WCS PD Host E2 training</a:t>
            </a:r>
          </a:p>
        </p:txBody>
      </p:sp>
    </p:spTree>
    <p:extLst>
      <p:ext uri="{BB962C8B-B14F-4D97-AF65-F5344CB8AC3E}">
        <p14:creationId xmlns:p14="http://schemas.microsoft.com/office/powerpoint/2010/main" val="30020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242124-4F36-A5EA-62B5-5B2610E96C7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2" y="1185908"/>
            <a:ext cx="6697142" cy="5277548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4892A-9389-D1A5-6EC9-075F6766CC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36160" y="1268414"/>
            <a:ext cx="4320480" cy="5113337"/>
          </a:xfrm>
        </p:spPr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Issue Information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Generic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USB-C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PD/PD to EC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AMD/INTEL Platform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PD to APU/Ridge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PD to MUX/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Retimer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Start Recording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Pass Case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Fail Case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Infineon HOST PD Logger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78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Infineon HOST PD Logger – Function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lowchart: Predefined Process 1">
            <a:extLst>
              <a:ext uri="{FF2B5EF4-FFF2-40B4-BE49-F238E27FC236}">
                <a16:creationId xmlns:a16="http://schemas.microsoft.com/office/drawing/2014/main" id="{CEF85EF5-2447-4CE9-3DED-4A719C00AD2F}"/>
              </a:ext>
            </a:extLst>
          </p:cNvPr>
          <p:cNvSpPr/>
          <p:nvPr/>
        </p:nvSpPr>
        <p:spPr bwMode="auto">
          <a:xfrm>
            <a:off x="2351584" y="1196752"/>
            <a:ext cx="1872000" cy="432000"/>
          </a:xfrm>
          <a:prstGeom prst="flowChartPredefinedProcess">
            <a:avLst/>
          </a:prstGeom>
          <a:solidFill>
            <a:srgbClr val="DCD5D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Launch Logger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9C05F1-8264-537F-8A64-B52315767EC3}"/>
              </a:ext>
            </a:extLst>
          </p:cNvPr>
          <p:cNvSpPr/>
          <p:nvPr/>
        </p:nvSpPr>
        <p:spPr bwMode="auto">
          <a:xfrm>
            <a:off x="5087888" y="1196752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Fill all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E4C56-9A4F-B720-196B-1ADACFF83136}"/>
              </a:ext>
            </a:extLst>
          </p:cNvPr>
          <p:cNvSpPr/>
          <p:nvPr/>
        </p:nvSpPr>
        <p:spPr bwMode="auto">
          <a:xfrm>
            <a:off x="5087888" y="1852348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Connect SALEAE </a:t>
            </a:r>
            <a:b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pins accordingly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2A520-3563-F4F6-AC00-70DB9E75CC0D}"/>
              </a:ext>
            </a:extLst>
          </p:cNvPr>
          <p:cNvSpPr/>
          <p:nvPr/>
        </p:nvSpPr>
        <p:spPr bwMode="auto">
          <a:xfrm>
            <a:off x="5087888" y="2497550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Hit </a:t>
            </a:r>
          </a:p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“Start Recording”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836A3-BFF7-BA62-E5B7-E62AAA04EDCE}"/>
              </a:ext>
            </a:extLst>
          </p:cNvPr>
          <p:cNvSpPr/>
          <p:nvPr/>
        </p:nvSpPr>
        <p:spPr bwMode="auto">
          <a:xfrm>
            <a:off x="5087888" y="3145622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Do issue </a:t>
            </a:r>
          </a:p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replication steps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C77F2C0-EDF1-BC98-6428-2531A9588524}"/>
              </a:ext>
            </a:extLst>
          </p:cNvPr>
          <p:cNvSpPr/>
          <p:nvPr/>
        </p:nvSpPr>
        <p:spPr bwMode="auto">
          <a:xfrm>
            <a:off x="2495600" y="4441766"/>
            <a:ext cx="1872000" cy="4320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Save as Fail Case?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5864F398-B2BE-6F3E-163F-601DA8C1BFAF}"/>
              </a:ext>
            </a:extLst>
          </p:cNvPr>
          <p:cNvSpPr/>
          <p:nvPr/>
        </p:nvSpPr>
        <p:spPr bwMode="auto">
          <a:xfrm>
            <a:off x="5087888" y="3793694"/>
            <a:ext cx="1872000" cy="4320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See issues?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BD87C006-406B-3F7F-A746-3314CBCD34A5}"/>
              </a:ext>
            </a:extLst>
          </p:cNvPr>
          <p:cNvSpPr/>
          <p:nvPr/>
        </p:nvSpPr>
        <p:spPr bwMode="auto">
          <a:xfrm>
            <a:off x="7680384" y="4441766"/>
            <a:ext cx="1872000" cy="4320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Save as Pass Case?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006654-AFFD-C2B9-E0F6-38DE30E8A4B2}"/>
              </a:ext>
            </a:extLst>
          </p:cNvPr>
          <p:cNvSpPr/>
          <p:nvPr/>
        </p:nvSpPr>
        <p:spPr bwMode="auto">
          <a:xfrm>
            <a:off x="5087888" y="4441766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Hit </a:t>
            </a:r>
          </a:p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“Abort Recording”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D7F3A-F627-F011-76EE-CDF5F90F5ABD}"/>
              </a:ext>
            </a:extLst>
          </p:cNvPr>
          <p:cNvSpPr/>
          <p:nvPr/>
        </p:nvSpPr>
        <p:spPr bwMode="auto">
          <a:xfrm>
            <a:off x="2495600" y="5089838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Hit </a:t>
            </a:r>
          </a:p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“Fail Case”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AAC021-6BD4-1ADE-C267-19BD11DEE219}"/>
              </a:ext>
            </a:extLst>
          </p:cNvPr>
          <p:cNvSpPr/>
          <p:nvPr/>
        </p:nvSpPr>
        <p:spPr bwMode="auto">
          <a:xfrm>
            <a:off x="7680384" y="5089838"/>
            <a:ext cx="1872000" cy="43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Hit </a:t>
            </a:r>
          </a:p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“Pass Case”</a:t>
            </a:r>
          </a:p>
        </p:txBody>
      </p:sp>
      <p:sp>
        <p:nvSpPr>
          <p:cNvPr id="83" name="Flowchart: Decision 82">
            <a:extLst>
              <a:ext uri="{FF2B5EF4-FFF2-40B4-BE49-F238E27FC236}">
                <a16:creationId xmlns:a16="http://schemas.microsoft.com/office/drawing/2014/main" id="{96448D70-7C1A-A969-2174-37BCAD6B2A56}"/>
              </a:ext>
            </a:extLst>
          </p:cNvPr>
          <p:cNvSpPr/>
          <p:nvPr/>
        </p:nvSpPr>
        <p:spPr bwMode="auto">
          <a:xfrm>
            <a:off x="5087888" y="5737850"/>
            <a:ext cx="1872000" cy="4320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Finish?</a:t>
            </a:r>
          </a:p>
        </p:txBody>
      </p:sp>
      <p:sp>
        <p:nvSpPr>
          <p:cNvPr id="102" name="Flowchart: Predefined Process 101">
            <a:extLst>
              <a:ext uri="{FF2B5EF4-FFF2-40B4-BE49-F238E27FC236}">
                <a16:creationId xmlns:a16="http://schemas.microsoft.com/office/drawing/2014/main" id="{757F0786-9DEC-7A8B-D90B-449B25A692D3}"/>
              </a:ext>
            </a:extLst>
          </p:cNvPr>
          <p:cNvSpPr/>
          <p:nvPr/>
        </p:nvSpPr>
        <p:spPr bwMode="auto">
          <a:xfrm>
            <a:off x="7680384" y="5737910"/>
            <a:ext cx="1872000" cy="432000"/>
          </a:xfrm>
          <a:prstGeom prst="flowChartPredefinedProcess">
            <a:avLst/>
          </a:prstGeom>
          <a:solidFill>
            <a:srgbClr val="DCD5D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rtlCol="0" anchor="ctr" anchorCtr="0"/>
          <a:lstStyle/>
          <a:p>
            <a:pPr algn="ctr" defTabSz="576000" eaLnBrk="0" hangingPunct="0"/>
            <a:r>
              <a:rPr lang="en-GB" baseline="0" dirty="0">
                <a:latin typeface="Calibri" panose="020F0502020204030204" pitchFamily="34" charset="0"/>
                <a:cs typeface="Calibri" panose="020F0502020204030204" pitchFamily="34" charset="0"/>
              </a:rPr>
              <a:t>Exit Logger</a:t>
            </a:r>
          </a:p>
        </p:txBody>
      </p: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85E8A248-5CFB-5EEE-B6F1-52163D52F2C5}"/>
              </a:ext>
            </a:extLst>
          </p:cNvPr>
          <p:cNvCxnSpPr>
            <a:stCxn id="16" idx="3"/>
            <a:endCxn id="83" idx="0"/>
          </p:cNvCxnSpPr>
          <p:nvPr/>
        </p:nvCxnSpPr>
        <p:spPr>
          <a:xfrm>
            <a:off x="4367600" y="5305838"/>
            <a:ext cx="1656288" cy="432012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52ADBC01-0D49-C1FE-80AF-C7C608B58CBD}"/>
              </a:ext>
            </a:extLst>
          </p:cNvPr>
          <p:cNvCxnSpPr>
            <a:stCxn id="17" idx="1"/>
            <a:endCxn id="83" idx="0"/>
          </p:cNvCxnSpPr>
          <p:nvPr/>
        </p:nvCxnSpPr>
        <p:spPr>
          <a:xfrm rot="10800000" flipV="1">
            <a:off x="6023888" y="5305838"/>
            <a:ext cx="1656496" cy="432012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: Elbow 201">
            <a:extLst>
              <a:ext uri="{FF2B5EF4-FFF2-40B4-BE49-F238E27FC236}">
                <a16:creationId xmlns:a16="http://schemas.microsoft.com/office/drawing/2014/main" id="{5AE2401C-6337-EE4F-CA55-E7A9F530699B}"/>
              </a:ext>
            </a:extLst>
          </p:cNvPr>
          <p:cNvCxnSpPr>
            <a:stCxn id="83" idx="2"/>
            <a:endCxn id="9" idx="1"/>
          </p:cNvCxnSpPr>
          <p:nvPr/>
        </p:nvCxnSpPr>
        <p:spPr>
          <a:xfrm rot="5400000" flipH="1">
            <a:off x="3827738" y="3973700"/>
            <a:ext cx="3456300" cy="936000"/>
          </a:xfrm>
          <a:prstGeom prst="bentConnector4">
            <a:avLst>
              <a:gd name="adj1" fmla="val -6614"/>
              <a:gd name="adj2" fmla="val 426323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6725CF7A-79E5-E694-FDE3-4F3E576DDF09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4223584" y="1412752"/>
            <a:ext cx="864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D6E0A5A7-39D7-FE67-8952-D5B2FF9FD486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23888" y="1628752"/>
            <a:ext cx="0" cy="22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743E72DC-FDA3-6A7E-1530-FBF346C0EDAB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6023888" y="2284348"/>
            <a:ext cx="0" cy="213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5D6B3456-2693-3C6F-F195-1586FEC1E419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023888" y="2929550"/>
            <a:ext cx="0" cy="21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58183567-ED7F-DB2D-9D15-465B2FC86C9D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6023888" y="3577622"/>
            <a:ext cx="0" cy="21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651E9489-3449-F83E-2E20-B1FB23296A21}"/>
              </a:ext>
            </a:extLst>
          </p:cNvPr>
          <p:cNvCxnSpPr>
            <a:stCxn id="13" idx="1"/>
            <a:endCxn id="12" idx="0"/>
          </p:cNvCxnSpPr>
          <p:nvPr/>
        </p:nvCxnSpPr>
        <p:spPr>
          <a:xfrm rot="10800000" flipV="1">
            <a:off x="3431600" y="4009694"/>
            <a:ext cx="1656288" cy="4320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08C09727-5BB2-8C05-AF4B-00FF8E0D589F}"/>
              </a:ext>
            </a:extLst>
          </p:cNvPr>
          <p:cNvCxnSpPr>
            <a:stCxn id="13" idx="3"/>
            <a:endCxn id="14" idx="0"/>
          </p:cNvCxnSpPr>
          <p:nvPr/>
        </p:nvCxnSpPr>
        <p:spPr>
          <a:xfrm>
            <a:off x="6959888" y="4009694"/>
            <a:ext cx="1656496" cy="4320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11D1E34B-A63E-3DC5-EC84-4CB616D4A248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4367600" y="4657766"/>
            <a:ext cx="720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D466898-6DD7-FFA2-B9D1-6CC5BD52BA0B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>
            <a:off x="6959888" y="4657766"/>
            <a:ext cx="720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2A69107D-ABC7-E880-77E3-DB1EA1E58C6D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>
            <a:off x="3431600" y="4873766"/>
            <a:ext cx="0" cy="21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B405B8FC-9084-725A-B4BF-A49859FBDD50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8616384" y="4873766"/>
            <a:ext cx="0" cy="21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E948A63-BCC2-4F17-F6F3-A8DA3BA021F3}"/>
              </a:ext>
            </a:extLst>
          </p:cNvPr>
          <p:cNvCxnSpPr>
            <a:stCxn id="83" idx="3"/>
            <a:endCxn id="102" idx="1"/>
          </p:cNvCxnSpPr>
          <p:nvPr/>
        </p:nvCxnSpPr>
        <p:spPr>
          <a:xfrm>
            <a:off x="6959888" y="5953850"/>
            <a:ext cx="720496" cy="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513338DA-1BEB-F172-F158-C6E152F7795D}"/>
              </a:ext>
            </a:extLst>
          </p:cNvPr>
          <p:cNvSpPr txBox="1"/>
          <p:nvPr/>
        </p:nvSpPr>
        <p:spPr bwMode="auto">
          <a:xfrm>
            <a:off x="4668553" y="3901972"/>
            <a:ext cx="21320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GB" sz="1600" kern="0" baseline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4AF6071-5A12-98B6-12A9-5D06B0402734}"/>
              </a:ext>
            </a:extLst>
          </p:cNvPr>
          <p:cNvSpPr txBox="1"/>
          <p:nvPr/>
        </p:nvSpPr>
        <p:spPr bwMode="auto">
          <a:xfrm>
            <a:off x="7130757" y="3901913"/>
            <a:ext cx="18114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GB" sz="1600" kern="0" baseline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6EC180B-CC54-2B5F-A4EC-44C500EC9D6F}"/>
              </a:ext>
            </a:extLst>
          </p:cNvPr>
          <p:cNvSpPr txBox="1"/>
          <p:nvPr/>
        </p:nvSpPr>
        <p:spPr bwMode="auto">
          <a:xfrm>
            <a:off x="3487904" y="4873766"/>
            <a:ext cx="21320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GB" sz="1600" kern="0" baseline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EB2C40F-465D-105B-3888-65EAA33AB731}"/>
              </a:ext>
            </a:extLst>
          </p:cNvPr>
          <p:cNvSpPr txBox="1"/>
          <p:nvPr/>
        </p:nvSpPr>
        <p:spPr bwMode="auto">
          <a:xfrm>
            <a:off x="8688288" y="4875647"/>
            <a:ext cx="21320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GB" sz="1600" kern="0" baseline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8BF4545-FE89-BC00-6F2C-BE36B35BC734}"/>
              </a:ext>
            </a:extLst>
          </p:cNvPr>
          <p:cNvSpPr txBox="1"/>
          <p:nvPr/>
        </p:nvSpPr>
        <p:spPr bwMode="auto">
          <a:xfrm>
            <a:off x="7098412" y="5861517"/>
            <a:ext cx="21320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GB" sz="1600" kern="0" baseline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875728C-63CE-F3FB-91B2-4922CFC7D686}"/>
              </a:ext>
            </a:extLst>
          </p:cNvPr>
          <p:cNvSpPr txBox="1"/>
          <p:nvPr/>
        </p:nvSpPr>
        <p:spPr bwMode="auto">
          <a:xfrm>
            <a:off x="7411754" y="4565373"/>
            <a:ext cx="18114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GB" sz="1600" kern="0" baseline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3656628-24BB-CAF5-6555-2CB2A84DCD01}"/>
              </a:ext>
            </a:extLst>
          </p:cNvPr>
          <p:cNvSpPr txBox="1"/>
          <p:nvPr/>
        </p:nvSpPr>
        <p:spPr bwMode="auto">
          <a:xfrm>
            <a:off x="4455090" y="4565433"/>
            <a:ext cx="18114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GB" sz="1600" kern="0" baseline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DCB4969-217F-897C-66CB-4F1834070AF4}"/>
              </a:ext>
            </a:extLst>
          </p:cNvPr>
          <p:cNvSpPr txBox="1"/>
          <p:nvPr/>
        </p:nvSpPr>
        <p:spPr bwMode="auto">
          <a:xfrm>
            <a:off x="5735960" y="6294973"/>
            <a:ext cx="181140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1200" kern="0" baseline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GB" sz="1600" kern="0" baseline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E9FA4633-D690-4190-3EBB-2F61064A1496}"/>
              </a:ext>
            </a:extLst>
          </p:cNvPr>
          <p:cNvCxnSpPr>
            <a:stCxn id="15" idx="2"/>
            <a:endCxn id="83" idx="0"/>
          </p:cNvCxnSpPr>
          <p:nvPr/>
        </p:nvCxnSpPr>
        <p:spPr>
          <a:xfrm>
            <a:off x="6023888" y="4873766"/>
            <a:ext cx="0" cy="864084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1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96EB3-BA26-1A5B-25D9-E11B2ED233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A SALEAE 16ch/16ch Pro Logic Analyser.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Install SALEAE Logic2 (v2.4.0+) application.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Install “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Manchester_PD_CC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” CC analyser plugin (SALEAE Pro only).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Install “HPI_I2CBurst” I</a:t>
            </a:r>
            <a:r>
              <a:rPr lang="en-GB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 analyser plugin (Optional).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Infineon HOST PD Logger – Prerequisites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6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96EB3-BA26-1A5B-25D9-E11B2ED233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Start Logger.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Fill all information and platform type in Version Information and mapping SALEAE pins with pre-defined channels or preferred ones.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All fields are mandatory except “OEM Ticket#”.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“Run” button will grey out if any blank field or channel duplicated.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Click “Start Recording” to start log collecting per setup.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Click “Abort Recording”, “Pass Case” or “Fail Case” while test finished.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Logger will assign relevant analysers to SALEAE logs and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create a folder using current time format contains: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Issue tracker form.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SALEAE log files.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Setup log: e.g. 20230522.txt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Infineon HOST PD Logger – How to use (1/2)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00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96EB3-BA26-1A5B-25D9-E11B2ED233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Scenario A: SALEAE Logic is not running while starting Logger: (recommended)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Will launch SALEAE Logic application with automation supportive automatically.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Keep SALEAE Logic application running while log captures are finished.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Will shutdown SALEAE Logic application while Logger is closed.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Scenario B: SALEAE Logic is running while starting Logger: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Will use the running SALEAE Logic application, which needs to </a:t>
            </a: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enable automation server before hand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Keep SALEAE Logic application running while log captures are finished.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Will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***NOT***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shutdown SALEAE Logic application while Logger is closed.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Click “Start Recording” again for another capture cycle.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Close Logger while finish test.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Infineon HOST PD Logger – How to use (2/2)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90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12F5E-112B-C083-9B4A-D9E0E826C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6C892-334C-411F-A2F0-15C6AC846B39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197CE-E082-61EC-0B7B-A8AA81C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Logs submission</a:t>
            </a:r>
          </a:p>
        </p:txBody>
      </p:sp>
      <p:pic>
        <p:nvPicPr>
          <p:cNvPr id="8" name="Content Placeholder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C97427E-76BD-478F-727B-1FC33AD6B63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3" y="1366638"/>
            <a:ext cx="5664200" cy="4916359"/>
          </a:xfrm>
        </p:spPr>
      </p:pic>
      <p:sp>
        <p:nvSpPr>
          <p:cNvPr id="2" name="IFXSHAPE">
            <a:extLst>
              <a:ext uri="{FF2B5EF4-FFF2-40B4-BE49-F238E27FC236}">
                <a16:creationId xmlns:a16="http://schemas.microsoft.com/office/drawing/2014/main" id="{1C74157E-BDF0-6BE5-C487-283E455AFB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11952" y="6541008"/>
            <a:ext cx="768096" cy="304800"/>
          </a:xfrm>
        </p:spPr>
        <p:txBody>
          <a:bodyPr vert="horz" wrap="none" lIns="0" tIns="0" rIns="0" bIns="0" rtlCol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Copyright © Infineon Technologies AG 2023. All rights reserved.</a:t>
            </a:r>
            <a:endParaRPr lang="en-GB" dirty="0"/>
          </a:p>
        </p:txBody>
      </p:sp>
      <p:sp>
        <p:nvSpPr>
          <p:cNvPr id="6" name="IFXSHAPE">
            <a:extLst>
              <a:ext uri="{FF2B5EF4-FFF2-40B4-BE49-F238E27FC236}">
                <a16:creationId xmlns:a16="http://schemas.microsoft.com/office/drawing/2014/main" id="{282FC0F4-8664-2972-96B1-2C3E3D00C1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4432" y="6541008"/>
            <a:ext cx="384048" cy="304800"/>
          </a:xfrm>
        </p:spPr>
        <p:txBody>
          <a:bodyPr vert="horz" wrap="none" lIns="0" tIns="0" rIns="0" bIns="0" rtlCol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0CF0657-954C-457B-AB6C-2444DAE1F514}" type="datetime3">
              <a:rPr lang="en-GB" smtClean="0"/>
              <a:pPr/>
              <a:t>20 July, 2023</a:t>
            </a:fld>
            <a:r>
              <a:rPr lang="en-GB" dirty="0"/>
              <a:t>             </a:t>
            </a:r>
            <a:r>
              <a:rPr lang="en-GB" b="1" dirty="0"/>
              <a:t>restricted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9F315A5-4E42-7F2E-EA6D-A3DDBE80FA1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Zip all files and submit to case</a:t>
            </a:r>
          </a:p>
        </p:txBody>
      </p:sp>
      <p:pic>
        <p:nvPicPr>
          <p:cNvPr id="22" name="Content Placeholder 13">
            <a:extLst>
              <a:ext uri="{FF2B5EF4-FFF2-40B4-BE49-F238E27FC236}">
                <a16:creationId xmlns:a16="http://schemas.microsoft.com/office/drawing/2014/main" id="{CEAEA73A-B576-AC2A-431C-55E5609CC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1700808"/>
            <a:ext cx="5040560" cy="181330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4681E59-1A90-A427-930E-F36EB109A86B}"/>
              </a:ext>
            </a:extLst>
          </p:cNvPr>
          <p:cNvSpPr/>
          <p:nvPr/>
        </p:nvSpPr>
        <p:spPr bwMode="auto">
          <a:xfrm>
            <a:off x="6488416" y="1716355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250BD8-1DD1-FE09-4598-FE016711DEF2}"/>
              </a:ext>
            </a:extLst>
          </p:cNvPr>
          <p:cNvSpPr/>
          <p:nvPr/>
        </p:nvSpPr>
        <p:spPr bwMode="auto">
          <a:xfrm>
            <a:off x="191344" y="4165609"/>
            <a:ext cx="1512168" cy="319127"/>
          </a:xfrm>
          <a:prstGeom prst="round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GB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14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96EB3-BA26-1A5B-25D9-E11B2ED233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Logger might crash if PC doesn't install SALEAE Logic2 application.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Logger might crash if SALEAE Logic application doesn't enable "Automation Server" at Scenario B.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Doesn't support SALEAE Logic Analyser 8ch SKU.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DO NOT control SALEAE Logic application directly.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Logger cannot rename channel names in SALEAE log. </a:t>
            </a: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Infineon HOST PD Logger – Limitations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2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96EB3-BA26-1A5B-25D9-E11B2ED233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Release firmware / documents on case instead of emails.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Turn down cases if 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insufficient information.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Firmware / hardware version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Expected behaviour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Failure symptom 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Failure rate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Reproduce steps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Function recovery method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Other necessary information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Proper logs</a:t>
            </a: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We will 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35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81126E-6757-90CE-56A9-3B3BE53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F4E3-32AD-DA55-1A4A-815B1F644D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3256E-932F-EFAB-7038-27F2805252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93AC7C0-C851-E96D-0C06-1A49A8794984}"/>
              </a:ext>
            </a:extLst>
          </p:cNvPr>
          <p:cNvSpPr/>
          <p:nvPr/>
        </p:nvSpPr>
        <p:spPr bwMode="auto">
          <a:xfrm>
            <a:off x="1703512" y="3848697"/>
            <a:ext cx="1944216" cy="1351860"/>
          </a:xfrm>
          <a:prstGeom prst="wedgeEllipseCallou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GB" sz="3600" baseline="0" dirty="0">
                <a:solidFill>
                  <a:schemeClr val="bg1"/>
                </a:solidFill>
                <a:latin typeface="Arial Black" panose="020B0A04020102020204" pitchFamily="34" charset="0"/>
              </a:rPr>
              <a:t>LINE</a:t>
            </a:r>
          </a:p>
        </p:txBody>
      </p:sp>
      <p:pic>
        <p:nvPicPr>
          <p:cNvPr id="14" name="Send">
            <a:extLst>
              <a:ext uri="{FF2B5EF4-FFF2-40B4-BE49-F238E27FC236}">
                <a16:creationId xmlns:a16="http://schemas.microsoft.com/office/drawing/2014/main" id="{DF573818-83A3-8321-4950-1A4059981B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7730" y="1844824"/>
            <a:ext cx="1415618" cy="14156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D9E6F3-0E41-8982-8561-6AC3FD323EB5}"/>
              </a:ext>
            </a:extLst>
          </p:cNvPr>
          <p:cNvSpPr txBox="1"/>
          <p:nvPr/>
        </p:nvSpPr>
        <p:spPr bwMode="auto">
          <a:xfrm>
            <a:off x="4295800" y="2245413"/>
            <a:ext cx="6408712" cy="620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3600" kern="0" baseline="0" dirty="0">
                <a:latin typeface="Calibri" panose="020F0502020204030204" pitchFamily="34" charset="0"/>
                <a:cs typeface="Calibri" panose="020F0502020204030204" pitchFamily="34" charset="0"/>
              </a:rPr>
              <a:t>traven.shih@infineon.com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420178-7FE8-C304-5F43-BED7521E2ED6}"/>
              </a:ext>
            </a:extLst>
          </p:cNvPr>
          <p:cNvSpPr txBox="1"/>
          <p:nvPr/>
        </p:nvSpPr>
        <p:spPr bwMode="auto">
          <a:xfrm>
            <a:off x="4295800" y="4214297"/>
            <a:ext cx="6408712" cy="620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GB" sz="36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ifx-traven</a:t>
            </a:r>
            <a:endParaRPr lang="en-GB" sz="3600" kern="0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69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135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VERSION" val="13.05.2023 07:12:22"/>
  <p:tag name="MIO_LASTDOWNLOADED" val="22.05.2023 15:35:51.523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72d87b0-7453-4de2-9a77-8abac1f697a2"/>
  <p:tag name="MIO_EKGUID" val="3845e535-4203-4ef5-895a-eaad52033263"/>
  <p:tag name="MIO_UPDATE" val="True"/>
  <p:tag name="MIO_VERSION" val="09.03.2023 09:38:29"/>
  <p:tag name="MIO_DBID" val="FDE84254-54DB-49E3-9A0E-CDE72035D530"/>
  <p:tag name="MIO_LASTDOWNLOADED" val="22.05.2023 18:09:29.118"/>
  <p:tag name="MIO_OBJECTNAME" val="05 Banded Rows"/>
  <p:tag name="MIO_LASTEDITORNAME" val="Verena Koh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acc4520-bed8-4215-a476-a176f560570f"/>
  <p:tag name="MIO_GUID" val="a4021b07-3f46-4fb8-94fe-397c100223e7"/>
  <p:tag name="MIO_UPDATE" val="True"/>
  <p:tag name="MIO_VERSION" val="05.03.2023 11:17:30"/>
  <p:tag name="MIO_DBID" val="FDE84254-54DB-49E3-9A0E-CDE72035D530"/>
  <p:tag name="MIO_LASTDOWNLOADED" val="22.05.2023 20:15:58.927"/>
  <p:tag name="MIO_OBJECTNAME" val="Send"/>
  <p:tag name="MIO_LASTEDITORNAME" val="Verena Kohl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13DFF84F-19D3-4ED7-AC51-F981DDD2DFB2}" vid="{F6438DE6-1D8E-4AE6-B966-4DDA9AE046AE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338</TotalTime>
  <Words>1261</Words>
  <Application>Microsoft Office PowerPoint</Application>
  <PresentationFormat>Widescreen</PresentationFormat>
  <Paragraphs>201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Calibri</vt:lpstr>
      <vt:lpstr>Infineon 16:9</vt:lpstr>
      <vt:lpstr>IFTW WCS issue report flow</vt:lpstr>
      <vt:lpstr>Microsoft Dynamic365 –  the issue system IFX use globally</vt:lpstr>
      <vt:lpstr>Registration – www.Infineon.com</vt:lpstr>
      <vt:lpstr>Case creation – Subject</vt:lpstr>
      <vt:lpstr>Case creation – Description</vt:lpstr>
      <vt:lpstr>Case creation – Collaboration</vt:lpstr>
      <vt:lpstr>Case creation – Attachment</vt:lpstr>
      <vt:lpstr>Case creation – Attachment format and file size</vt:lpstr>
      <vt:lpstr>Case creation – Discussion board</vt:lpstr>
      <vt:lpstr>IFTW WCS Logger –  helper for log collection</vt:lpstr>
      <vt:lpstr>SOP for log collecting – The WCS PD Host E2 training</vt:lpstr>
      <vt:lpstr>Infineon HOST PD Logger</vt:lpstr>
      <vt:lpstr>Infineon HOST PD Logger – Function Flow</vt:lpstr>
      <vt:lpstr>Infineon HOST PD Logger – Prerequisites</vt:lpstr>
      <vt:lpstr>Infineon HOST PD Logger – How to use (1/2)</vt:lpstr>
      <vt:lpstr>Infineon HOST PD Logger – How to use (2/2)</vt:lpstr>
      <vt:lpstr>Logs submission</vt:lpstr>
      <vt:lpstr>Infineon HOST PD Logger – Limitations</vt:lpstr>
      <vt:lpstr>We will …</vt:lpstr>
      <vt:lpstr>Questions?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Traven Shih</dc:creator>
  <cp:lastModifiedBy>Traven Shih</cp:lastModifiedBy>
  <cp:revision>103</cp:revision>
  <dcterms:created xsi:type="dcterms:W3CDTF">2023-05-22T10:06:33Z</dcterms:created>
  <dcterms:modified xsi:type="dcterms:W3CDTF">2023-07-20T07:38:33Z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2023-03-18T12:11:36Z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true</vt:lpwstr>
  </property>
  <property fmtid="{D5CDD505-2E9C-101B-9397-08002B2CF9AE}" pid="23" name="MSIP_Label_a15a25aa-e944-415d-b7a7-40f6b9180b6b_SetDate">
    <vt:lpwstr>2023-03-24T13:40:28Z</vt:lpwstr>
  </property>
  <property fmtid="{D5CDD505-2E9C-101B-9397-08002B2CF9AE}" pid="24" name="MSIP_Label_a15a25aa-e944-415d-b7a7-40f6b9180b6b_Method">
    <vt:lpwstr>Standard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73b1d637-b020-4fda-a205-ff5e02ff8705</vt:lpwstr>
  </property>
  <property fmtid="{D5CDD505-2E9C-101B-9397-08002B2CF9AE}" pid="28" name="MSIP_Label_a15a25aa-e944-415d-b7a7-40f6b9180b6b_ContentBits">
    <vt:lpwstr>0</vt:lpwstr>
  </property>
</Properties>
</file>