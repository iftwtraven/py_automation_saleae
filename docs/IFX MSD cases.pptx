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heme/theme2.xml" ContentType="application/vnd.openxmlformats-officedocument.theme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heme/theme3.xml" ContentType="application/vnd.openxmlformats-officedocument.theme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5"/>
  </p:sldMasterIdLst>
  <p:notesMasterIdLst>
    <p:notesMasterId r:id="rId29"/>
  </p:notesMasterIdLst>
  <p:handoutMasterIdLst>
    <p:handoutMasterId r:id="rId30"/>
  </p:handoutMasterIdLst>
  <p:sldIdLst>
    <p:sldId id="267" r:id="rId6"/>
    <p:sldId id="347" r:id="rId7"/>
    <p:sldId id="2011" r:id="rId8"/>
    <p:sldId id="2004" r:id="rId9"/>
    <p:sldId id="2006" r:id="rId10"/>
    <p:sldId id="2008" r:id="rId11"/>
    <p:sldId id="2005" r:id="rId12"/>
    <p:sldId id="2009" r:id="rId13"/>
    <p:sldId id="2013" r:id="rId14"/>
    <p:sldId id="259" r:id="rId15"/>
    <p:sldId id="269" r:id="rId16"/>
    <p:sldId id="2015" r:id="rId17"/>
    <p:sldId id="270" r:id="rId18"/>
    <p:sldId id="2017" r:id="rId19"/>
    <p:sldId id="2016" r:id="rId20"/>
    <p:sldId id="2018" r:id="rId21"/>
    <p:sldId id="277" r:id="rId22"/>
    <p:sldId id="276" r:id="rId23"/>
    <p:sldId id="275" r:id="rId24"/>
    <p:sldId id="2014" r:id="rId25"/>
    <p:sldId id="2019" r:id="rId26"/>
    <p:sldId id="278" r:id="rId27"/>
    <p:sldId id="257" r:id="rId28"/>
  </p:sldIdLst>
  <p:sldSz cx="12192000" cy="6858000"/>
  <p:notesSz cx="7099300" cy="10234613"/>
  <p:custDataLst>
    <p:tags r:id="rId3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74" autoAdjust="0"/>
    <p:restoredTop sz="94696" autoAdjust="0"/>
  </p:normalViewPr>
  <p:slideViewPr>
    <p:cSldViewPr snapToObjects="1" showGuides="1">
      <p:cViewPr varScale="1">
        <p:scale>
          <a:sx n="81" d="100"/>
          <a:sy n="81" d="100"/>
        </p:scale>
        <p:origin x="108" y="816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tags" Target="tags/tag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9.xml"/><Relationship Id="rId3" Type="http://schemas.openxmlformats.org/officeDocument/2006/relationships/tags" Target="../tags/tag184.xml"/><Relationship Id="rId7" Type="http://schemas.openxmlformats.org/officeDocument/2006/relationships/tags" Target="../tags/tag188.xml"/><Relationship Id="rId12" Type="http://schemas.openxmlformats.org/officeDocument/2006/relationships/image" Target="../media/image5.png"/><Relationship Id="rId2" Type="http://schemas.openxmlformats.org/officeDocument/2006/relationships/tags" Target="../tags/tag183.xml"/><Relationship Id="rId1" Type="http://schemas.openxmlformats.org/officeDocument/2006/relationships/theme" Target="../theme/theme3.xml"/><Relationship Id="rId6" Type="http://schemas.openxmlformats.org/officeDocument/2006/relationships/tags" Target="../tags/tag187.xml"/><Relationship Id="rId11" Type="http://schemas.openxmlformats.org/officeDocument/2006/relationships/tags" Target="../tags/tag192.xml"/><Relationship Id="rId5" Type="http://schemas.openxmlformats.org/officeDocument/2006/relationships/tags" Target="../tags/tag186.xml"/><Relationship Id="rId10" Type="http://schemas.openxmlformats.org/officeDocument/2006/relationships/tags" Target="../tags/tag191.xml"/><Relationship Id="rId4" Type="http://schemas.openxmlformats.org/officeDocument/2006/relationships/tags" Target="../tags/tag185.xml"/><Relationship Id="rId9" Type="http://schemas.openxmlformats.org/officeDocument/2006/relationships/tags" Target="../tags/tag190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2023.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 dirty="0" err="1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18 Mrz 2023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79.xml"/><Relationship Id="rId3" Type="http://schemas.openxmlformats.org/officeDocument/2006/relationships/tags" Target="../tags/tag174.xml"/><Relationship Id="rId7" Type="http://schemas.openxmlformats.org/officeDocument/2006/relationships/tags" Target="../tags/tag178.xml"/><Relationship Id="rId12" Type="http://schemas.openxmlformats.org/officeDocument/2006/relationships/image" Target="../media/image5.png"/><Relationship Id="rId2" Type="http://schemas.openxmlformats.org/officeDocument/2006/relationships/tags" Target="../tags/tag173.xml"/><Relationship Id="rId1" Type="http://schemas.openxmlformats.org/officeDocument/2006/relationships/theme" Target="../theme/theme2.xml"/><Relationship Id="rId6" Type="http://schemas.openxmlformats.org/officeDocument/2006/relationships/tags" Target="../tags/tag177.xml"/><Relationship Id="rId11" Type="http://schemas.openxmlformats.org/officeDocument/2006/relationships/tags" Target="../tags/tag182.xml"/><Relationship Id="rId5" Type="http://schemas.openxmlformats.org/officeDocument/2006/relationships/tags" Target="../tags/tag176.xml"/><Relationship Id="rId10" Type="http://schemas.openxmlformats.org/officeDocument/2006/relationships/tags" Target="../tags/tag181.xml"/><Relationship Id="rId4" Type="http://schemas.openxmlformats.org/officeDocument/2006/relationships/tags" Target="../tags/tag175.xml"/><Relationship Id="rId9" Type="http://schemas.openxmlformats.org/officeDocument/2006/relationships/tags" Target="../tags/tag18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2023.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 dirty="0" err="1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18 Mrz 2023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13" Type="http://schemas.openxmlformats.org/officeDocument/2006/relationships/image" Target="../media/image1.png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2.jp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3.xml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image" Target="../media/image1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3.jpg"/><Relationship Id="rId5" Type="http://schemas.openxmlformats.org/officeDocument/2006/relationships/tags" Target="../tags/tag2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9.xml"/><Relationship Id="rId9" Type="http://schemas.openxmlformats.org/officeDocument/2006/relationships/tags" Target="../tags/tag24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2.xml"/><Relationship Id="rId3" Type="http://schemas.openxmlformats.org/officeDocument/2006/relationships/tags" Target="../tags/tag27.xml"/><Relationship Id="rId7" Type="http://schemas.openxmlformats.org/officeDocument/2006/relationships/tags" Target="../tags/tag31.xml"/><Relationship Id="rId12" Type="http://schemas.openxmlformats.org/officeDocument/2006/relationships/image" Target="../media/image1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tags" Target="../tags/tag30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9.xml"/><Relationship Id="rId10" Type="http://schemas.openxmlformats.org/officeDocument/2006/relationships/tags" Target="../tags/tag34.xml"/><Relationship Id="rId4" Type="http://schemas.openxmlformats.org/officeDocument/2006/relationships/tags" Target="../tags/tag28.xml"/><Relationship Id="rId9" Type="http://schemas.openxmlformats.org/officeDocument/2006/relationships/tags" Target="../tags/tag33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2.xml"/><Relationship Id="rId3" Type="http://schemas.openxmlformats.org/officeDocument/2006/relationships/tags" Target="../tags/tag37.xml"/><Relationship Id="rId7" Type="http://schemas.openxmlformats.org/officeDocument/2006/relationships/tags" Target="../tags/tag41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11" Type="http://schemas.openxmlformats.org/officeDocument/2006/relationships/tags" Target="../tags/tag45.xml"/><Relationship Id="rId5" Type="http://schemas.openxmlformats.org/officeDocument/2006/relationships/tags" Target="../tags/tag39.xml"/><Relationship Id="rId10" Type="http://schemas.openxmlformats.org/officeDocument/2006/relationships/tags" Target="../tags/tag44.xml"/><Relationship Id="rId4" Type="http://schemas.openxmlformats.org/officeDocument/2006/relationships/tags" Target="../tags/tag38.xml"/><Relationship Id="rId9" Type="http://schemas.openxmlformats.org/officeDocument/2006/relationships/tags" Target="../tags/tag43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3.xml"/><Relationship Id="rId3" Type="http://schemas.openxmlformats.org/officeDocument/2006/relationships/tags" Target="../tags/tag48.xml"/><Relationship Id="rId7" Type="http://schemas.openxmlformats.org/officeDocument/2006/relationships/tags" Target="../tags/tag52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tags" Target="../tags/tag51.xml"/><Relationship Id="rId11" Type="http://schemas.openxmlformats.org/officeDocument/2006/relationships/tags" Target="../tags/tag56.xml"/><Relationship Id="rId5" Type="http://schemas.openxmlformats.org/officeDocument/2006/relationships/tags" Target="../tags/tag50.xml"/><Relationship Id="rId10" Type="http://schemas.openxmlformats.org/officeDocument/2006/relationships/tags" Target="../tags/tag55.xml"/><Relationship Id="rId4" Type="http://schemas.openxmlformats.org/officeDocument/2006/relationships/tags" Target="../tags/tag49.xml"/><Relationship Id="rId9" Type="http://schemas.openxmlformats.org/officeDocument/2006/relationships/tags" Target="../tags/tag54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72.xml"/><Relationship Id="rId4" Type="http://schemas.openxmlformats.org/officeDocument/2006/relationships/tags" Target="../tags/tag7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88.xml"/><Relationship Id="rId1" Type="http://schemas.openxmlformats.org/officeDocument/2006/relationships/tags" Target="../tags/tag87.xml"/><Relationship Id="rId6" Type="http://schemas.openxmlformats.org/officeDocument/2006/relationships/tags" Target="../tags/tag92.xml"/><Relationship Id="rId11" Type="http://schemas.openxmlformats.org/officeDocument/2006/relationships/tags" Target="../tags/tag97.xml"/><Relationship Id="rId5" Type="http://schemas.openxmlformats.org/officeDocument/2006/relationships/tags" Target="../tags/tag91.xml"/><Relationship Id="rId10" Type="http://schemas.openxmlformats.org/officeDocument/2006/relationships/tags" Target="../tags/tag96.xml"/><Relationship Id="rId4" Type="http://schemas.openxmlformats.org/officeDocument/2006/relationships/tags" Target="../tags/tag90.xml"/><Relationship Id="rId9" Type="http://schemas.openxmlformats.org/officeDocument/2006/relationships/tags" Target="../tags/tag95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5.xml"/><Relationship Id="rId3" Type="http://schemas.openxmlformats.org/officeDocument/2006/relationships/tags" Target="../tags/tag100.xml"/><Relationship Id="rId7" Type="http://schemas.openxmlformats.org/officeDocument/2006/relationships/tags" Target="../tags/tag104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99.xml"/><Relationship Id="rId1" Type="http://schemas.openxmlformats.org/officeDocument/2006/relationships/tags" Target="../tags/tag98.xml"/><Relationship Id="rId6" Type="http://schemas.openxmlformats.org/officeDocument/2006/relationships/tags" Target="../tags/tag103.xml"/><Relationship Id="rId11" Type="http://schemas.openxmlformats.org/officeDocument/2006/relationships/tags" Target="../tags/tag108.xml"/><Relationship Id="rId5" Type="http://schemas.openxmlformats.org/officeDocument/2006/relationships/tags" Target="../tags/tag102.xml"/><Relationship Id="rId10" Type="http://schemas.openxmlformats.org/officeDocument/2006/relationships/tags" Target="../tags/tag107.xml"/><Relationship Id="rId4" Type="http://schemas.openxmlformats.org/officeDocument/2006/relationships/tags" Target="../tags/tag101.xml"/><Relationship Id="rId9" Type="http://schemas.openxmlformats.org/officeDocument/2006/relationships/tags" Target="../tags/tag106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6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1.xml"/><Relationship Id="rId7" Type="http://schemas.openxmlformats.org/officeDocument/2006/relationships/tags" Target="../tags/tag115.xml"/><Relationship Id="rId12" Type="http://schemas.openxmlformats.org/officeDocument/2006/relationships/tags" Target="../tags/tag120.xml"/><Relationship Id="rId2" Type="http://schemas.openxmlformats.org/officeDocument/2006/relationships/tags" Target="../tags/tag110.xml"/><Relationship Id="rId1" Type="http://schemas.openxmlformats.org/officeDocument/2006/relationships/tags" Target="../tags/tag109.xml"/><Relationship Id="rId6" Type="http://schemas.openxmlformats.org/officeDocument/2006/relationships/tags" Target="../tags/tag114.xml"/><Relationship Id="rId11" Type="http://schemas.openxmlformats.org/officeDocument/2006/relationships/tags" Target="../tags/tag119.xml"/><Relationship Id="rId5" Type="http://schemas.openxmlformats.org/officeDocument/2006/relationships/tags" Target="../tags/tag113.xml"/><Relationship Id="rId10" Type="http://schemas.openxmlformats.org/officeDocument/2006/relationships/tags" Target="../tags/tag118.xml"/><Relationship Id="rId4" Type="http://schemas.openxmlformats.org/officeDocument/2006/relationships/tags" Target="../tags/tag112.xml"/><Relationship Id="rId9" Type="http://schemas.openxmlformats.org/officeDocument/2006/relationships/tags" Target="../tags/tag117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28.xml"/><Relationship Id="rId3" Type="http://schemas.openxmlformats.org/officeDocument/2006/relationships/tags" Target="../tags/tag123.xml"/><Relationship Id="rId7" Type="http://schemas.openxmlformats.org/officeDocument/2006/relationships/tags" Target="../tags/tag127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6" Type="http://schemas.openxmlformats.org/officeDocument/2006/relationships/tags" Target="../tags/tag126.xml"/><Relationship Id="rId11" Type="http://schemas.openxmlformats.org/officeDocument/2006/relationships/tags" Target="../tags/tag131.xml"/><Relationship Id="rId5" Type="http://schemas.openxmlformats.org/officeDocument/2006/relationships/tags" Target="../tags/tag125.xml"/><Relationship Id="rId10" Type="http://schemas.openxmlformats.org/officeDocument/2006/relationships/tags" Target="../tags/tag130.xml"/><Relationship Id="rId4" Type="http://schemas.openxmlformats.org/officeDocument/2006/relationships/tags" Target="../tags/tag124.xml"/><Relationship Id="rId9" Type="http://schemas.openxmlformats.org/officeDocument/2006/relationships/tags" Target="../tags/tag129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39.xml"/><Relationship Id="rId3" Type="http://schemas.openxmlformats.org/officeDocument/2006/relationships/tags" Target="../tags/tag134.xml"/><Relationship Id="rId7" Type="http://schemas.openxmlformats.org/officeDocument/2006/relationships/tags" Target="../tags/tag138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33.xml"/><Relationship Id="rId1" Type="http://schemas.openxmlformats.org/officeDocument/2006/relationships/tags" Target="../tags/tag132.xml"/><Relationship Id="rId6" Type="http://schemas.openxmlformats.org/officeDocument/2006/relationships/tags" Target="../tags/tag137.xml"/><Relationship Id="rId11" Type="http://schemas.openxmlformats.org/officeDocument/2006/relationships/tags" Target="../tags/tag142.xml"/><Relationship Id="rId5" Type="http://schemas.openxmlformats.org/officeDocument/2006/relationships/tags" Target="../tags/tag136.xml"/><Relationship Id="rId10" Type="http://schemas.openxmlformats.org/officeDocument/2006/relationships/tags" Target="../tags/tag141.xml"/><Relationship Id="rId4" Type="http://schemas.openxmlformats.org/officeDocument/2006/relationships/tags" Target="../tags/tag135.xml"/><Relationship Id="rId9" Type="http://schemas.openxmlformats.org/officeDocument/2006/relationships/tags" Target="../tags/tag140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0.xml"/><Relationship Id="rId3" Type="http://schemas.openxmlformats.org/officeDocument/2006/relationships/tags" Target="../tags/tag145.xml"/><Relationship Id="rId7" Type="http://schemas.openxmlformats.org/officeDocument/2006/relationships/tags" Target="../tags/tag149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44.xml"/><Relationship Id="rId1" Type="http://schemas.openxmlformats.org/officeDocument/2006/relationships/tags" Target="../tags/tag143.xml"/><Relationship Id="rId6" Type="http://schemas.openxmlformats.org/officeDocument/2006/relationships/tags" Target="../tags/tag148.xml"/><Relationship Id="rId11" Type="http://schemas.openxmlformats.org/officeDocument/2006/relationships/tags" Target="../tags/tag153.xml"/><Relationship Id="rId5" Type="http://schemas.openxmlformats.org/officeDocument/2006/relationships/tags" Target="../tags/tag147.xml"/><Relationship Id="rId10" Type="http://schemas.openxmlformats.org/officeDocument/2006/relationships/tags" Target="../tags/tag152.xml"/><Relationship Id="rId4" Type="http://schemas.openxmlformats.org/officeDocument/2006/relationships/tags" Target="../tags/tag146.xml"/><Relationship Id="rId9" Type="http://schemas.openxmlformats.org/officeDocument/2006/relationships/tags" Target="../tags/tag151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1.xml"/><Relationship Id="rId3" Type="http://schemas.openxmlformats.org/officeDocument/2006/relationships/tags" Target="../tags/tag156.xml"/><Relationship Id="rId7" Type="http://schemas.openxmlformats.org/officeDocument/2006/relationships/tags" Target="../tags/tag160.xml"/><Relationship Id="rId2" Type="http://schemas.openxmlformats.org/officeDocument/2006/relationships/tags" Target="../tags/tag155.xml"/><Relationship Id="rId1" Type="http://schemas.openxmlformats.org/officeDocument/2006/relationships/tags" Target="../tags/tag154.xml"/><Relationship Id="rId6" Type="http://schemas.openxmlformats.org/officeDocument/2006/relationships/tags" Target="../tags/tag159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58.xml"/><Relationship Id="rId10" Type="http://schemas.openxmlformats.org/officeDocument/2006/relationships/tags" Target="../tags/tag163.xml"/><Relationship Id="rId4" Type="http://schemas.openxmlformats.org/officeDocument/2006/relationships/tags" Target="../tags/tag157.xml"/><Relationship Id="rId9" Type="http://schemas.openxmlformats.org/officeDocument/2006/relationships/tags" Target="../tags/tag16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66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67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0.xml"/><Relationship Id="rId7" Type="http://schemas.openxmlformats.org/officeDocument/2006/relationships/image" Target="../media/image1.png"/><Relationship Id="rId2" Type="http://schemas.openxmlformats.org/officeDocument/2006/relationships/tags" Target="../tags/tag169.xml"/><Relationship Id="rId1" Type="http://schemas.openxmlformats.org/officeDocument/2006/relationships/tags" Target="../tags/tag16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2.xml"/><Relationship Id="rId4" Type="http://schemas.openxmlformats.org/officeDocument/2006/relationships/tags" Target="../tags/tag17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C044B785-0077-881B-E76D-6B81CD356347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BF7387C6-3259-3116-D5D9-53D091E64C50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B75758AD-79FD-2DB5-0FC1-80FA1F0042A2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19AF796A-D72D-AA37-2391-1215458EA1DB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14B67E68-C099-C03F-B134-B90F3E1E1897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C4B7D92E-D7B4-688A-B110-49C4C3A2C4C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9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>
            <p:custDataLst>
              <p:tags r:id="rId12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96D91D9E-694F-6997-0AA7-CA984BD4A4E4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IFXSHAPE">
            <a:extLst>
              <a:ext uri="{FF2B5EF4-FFF2-40B4-BE49-F238E27FC236}">
                <a16:creationId xmlns:a16="http://schemas.microsoft.com/office/drawing/2014/main" id="{F331BB26-35E0-C21C-A787-786FDD4C785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IFXSHAPE">
            <a:extLst>
              <a:ext uri="{FF2B5EF4-FFF2-40B4-BE49-F238E27FC236}">
                <a16:creationId xmlns:a16="http://schemas.microsoft.com/office/drawing/2014/main" id="{0EA6D551-9193-3C10-DB6A-ACB38AA71092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IFXSHAPE">
            <a:extLst>
              <a:ext uri="{FF2B5EF4-FFF2-40B4-BE49-F238E27FC236}">
                <a16:creationId xmlns:a16="http://schemas.microsoft.com/office/drawing/2014/main" id="{2B24EA44-6C7E-0081-8C4B-658B83E7141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FX_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FXSHAPE">
            <a:extLst>
              <a:ext uri="{FF2B5EF4-FFF2-40B4-BE49-F238E27FC236}">
                <a16:creationId xmlns:a16="http://schemas.microsoft.com/office/drawing/2014/main" id="{39840829-9262-4697-A804-B7D874ED57A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087355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r" fontAlgn="t">
              <a:buClr>
                <a:srgbClr val="928285"/>
              </a:buClr>
              <a:defRPr sz="1333" b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fld id="{ACA6C892-334C-411F-A2F0-15C6AC846B39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IFXSHAPE"/>
          <p:cNvSpPr>
            <a:spLocks noGrp="1"/>
          </p:cNvSpPr>
          <p:nvPr>
            <p:ph type="title" hasCustomPrompt="1"/>
          </p:nvPr>
        </p:nvSpPr>
        <p:spPr>
          <a:xfrm>
            <a:off x="335360" y="188720"/>
            <a:ext cx="9631680" cy="7200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</a:p>
        </p:txBody>
      </p:sp>
      <p:sp>
        <p:nvSpPr>
          <p:cNvPr id="7" name="IFXSHAPE"/>
          <p:cNvSpPr>
            <a:spLocks noGrp="1"/>
          </p:cNvSpPr>
          <p:nvPr>
            <p:ph sz="quarter" idx="13" hasCustomPrompt="1"/>
          </p:nvPr>
        </p:nvSpPr>
        <p:spPr>
          <a:xfrm>
            <a:off x="334434" y="1268414"/>
            <a:ext cx="11522207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A84CC3EE-574C-0AEE-5DEE-4395361D54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wrap="none" lIns="0" tIns="0" rIns="0" bIns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9" name="IFXSHAPE">
            <a:extLst>
              <a:ext uri="{FF2B5EF4-FFF2-40B4-BE49-F238E27FC236}">
                <a16:creationId xmlns:a16="http://schemas.microsoft.com/office/drawing/2014/main" id="{21BFE493-DD2A-D375-1183-354BF0541CA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1031147978"/>
      </p:ext>
    </p:extLst>
  </p:cSld>
  <p:clrMapOvr>
    <a:masterClrMapping/>
  </p:clrMapOvr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FX_Title_and_Two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FXSHAPE">
            <a:extLst>
              <a:ext uri="{FF2B5EF4-FFF2-40B4-BE49-F238E27FC236}">
                <a16:creationId xmlns:a16="http://schemas.microsoft.com/office/drawing/2014/main" id="{3614D37E-07DB-4B27-A6A2-B258C85043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087355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r" fontAlgn="t">
              <a:buClr>
                <a:srgbClr val="928285"/>
              </a:buClr>
              <a:defRPr sz="1333" b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fld id="{65EF9BA8-1BD9-4D4A-BC37-7699F0B2D45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IFXSHAPE"/>
          <p:cNvSpPr>
            <a:spLocks noGrp="1"/>
          </p:cNvSpPr>
          <p:nvPr>
            <p:ph type="title" hasCustomPrompt="1"/>
          </p:nvPr>
        </p:nvSpPr>
        <p:spPr>
          <a:xfrm>
            <a:off x="335360" y="188720"/>
            <a:ext cx="9631680" cy="7200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</a:p>
        </p:txBody>
      </p:sp>
      <p:sp>
        <p:nvSpPr>
          <p:cNvPr id="7" name="IFXSHAPE"/>
          <p:cNvSpPr>
            <a:spLocks noGrp="1"/>
          </p:cNvSpPr>
          <p:nvPr>
            <p:ph sz="quarter" idx="13" hasCustomPrompt="1"/>
          </p:nvPr>
        </p:nvSpPr>
        <p:spPr>
          <a:xfrm>
            <a:off x="334434" y="1268414"/>
            <a:ext cx="5664629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9" name="IFXSHAPE"/>
          <p:cNvSpPr>
            <a:spLocks noGrp="1"/>
          </p:cNvSpPr>
          <p:nvPr>
            <p:ph sz="quarter" idx="14" hasCustomPrompt="1"/>
          </p:nvPr>
        </p:nvSpPr>
        <p:spPr>
          <a:xfrm>
            <a:off x="6191251" y="1268414"/>
            <a:ext cx="5665389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C562406B-9CF6-B3CA-77C7-7BE5214660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wrap="none" lIns="0" tIns="0" rIns="0" bIns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10" name="IFXSHAPE">
            <a:extLst>
              <a:ext uri="{FF2B5EF4-FFF2-40B4-BE49-F238E27FC236}">
                <a16:creationId xmlns:a16="http://schemas.microsoft.com/office/drawing/2014/main" id="{CD420AB8-FD72-B44C-518E-DE3A60686678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695007571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4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b="1" dirty="0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5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de-DE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de-DE" sz="800" b="1" kern="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  <p:sldLayoutId id="2147483757" r:id="rId19"/>
    <p:sldLayoutId id="2147483758" r:id="rId20"/>
  </p:sldLayoutIdLst>
  <p:hf hdr="0" dt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9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drive.google.com/drive/folders/1AqxentVzGbndPK5DALp_iF4E_E6OO_a0?usp=sharing" TargetMode="Externa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94.xml"/><Relationship Id="rId4" Type="http://schemas.openxmlformats.org/officeDocument/2006/relationships/image" Target="../media/image16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589B28-D26E-44F4-8C62-FEE4AAED4A7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FB27639-D1FE-4EB7-81D0-019FC186FB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IFTW PSS SMD GC TM SPB WCS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Traven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FB1C68C-D054-4F8D-AA7A-F778CCFFFD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IFTW WCS issue report flow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1AFF28-0883-405B-A8DD-D42393A23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3701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1EAF84B-79E0-036E-BDE4-C4D56EAC7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Microsoft Dynamic365</a:t>
            </a:r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CC24BF-56E4-860E-D8E1-BCFF7B758D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GB" dirty="0"/>
          </a:p>
          <a:p>
            <a:endParaRPr lang="en-GB" dirty="0"/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E479FE7C-1D37-666D-7BED-F47F8CEE904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7" name="IFXSHAPE">
            <a:extLst>
              <a:ext uri="{FF2B5EF4-FFF2-40B4-BE49-F238E27FC236}">
                <a16:creationId xmlns:a16="http://schemas.microsoft.com/office/drawing/2014/main" id="{57E68020-3905-27E6-18DB-F0A885267B0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90FCB7-D4BE-1022-0F93-2C5CE4457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344" y="904268"/>
            <a:ext cx="7933215" cy="5461475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F5CA77A-2044-4A56-979F-18667A80EAB4}"/>
              </a:ext>
            </a:extLst>
          </p:cNvPr>
          <p:cNvSpPr/>
          <p:nvPr/>
        </p:nvSpPr>
        <p:spPr bwMode="auto">
          <a:xfrm>
            <a:off x="7999408" y="2780928"/>
            <a:ext cx="1512168" cy="432048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742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Subject</a:t>
            </a:r>
          </a:p>
        </p:txBody>
      </p:sp>
      <p:pic>
        <p:nvPicPr>
          <p:cNvPr id="12" name="Content Placeholder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6AB0DB46-AF10-C1F2-F25B-8DA6C36A41A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85" y="1267884"/>
            <a:ext cx="5196496" cy="5113867"/>
          </a:xfr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[-</a:t>
            </a:r>
            <a:r>
              <a:rPr lang="en-GB" sz="2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oem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odm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project-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ticket#-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 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short description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100 words as maximum</a:t>
            </a:r>
          </a:p>
          <a:p>
            <a:pPr marL="0" indent="0">
              <a:buNone/>
            </a:pPr>
            <a:endParaRPr lang="en-GB" sz="2400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GB" sz="2000" i="1" dirty="0">
                <a:latin typeface="Calibri" panose="020F0502020204030204" pitchFamily="34" charset="0"/>
                <a:cs typeface="Calibri" panose="020F0502020204030204" pitchFamily="34" charset="0"/>
              </a:rPr>
              <a:t>e.g.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[HP][IEC][Hook2][OBS1234567] power button event lost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[HP][TPV][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Deora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] PV1 power consumption too high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913132-5558-BAFC-37FF-14FE66914A93}"/>
              </a:ext>
            </a:extLst>
          </p:cNvPr>
          <p:cNvSpPr/>
          <p:nvPr/>
        </p:nvSpPr>
        <p:spPr bwMode="auto">
          <a:xfrm>
            <a:off x="4799424" y="1293410"/>
            <a:ext cx="288032" cy="103493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3A375686-76FB-B68C-AA1E-3FB985E878F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DE452B0F-6E02-13AF-39E2-ECD37BA70A9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CE7063-AD23-E561-8C2B-734EB0CB8CA3}"/>
              </a:ext>
            </a:extLst>
          </p:cNvPr>
          <p:cNvSpPr/>
          <p:nvPr/>
        </p:nvSpPr>
        <p:spPr bwMode="auto">
          <a:xfrm>
            <a:off x="911424" y="2420888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827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Description</a:t>
            </a:r>
          </a:p>
        </p:txBody>
      </p:sp>
      <p:pic>
        <p:nvPicPr>
          <p:cNvPr id="12" name="Content Placeholder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6AB0DB46-AF10-C1F2-F25B-8DA6C36A41A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85" y="1267884"/>
            <a:ext cx="5196496" cy="5113867"/>
          </a:xfr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Include these information and designate to Infineon FAE (email)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Firmware / hardware version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Expected behaviour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Failure symptom 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Failure rate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Reproduce steps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Function recovery method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 necessary information</a:t>
            </a:r>
          </a:p>
          <a:p>
            <a:endParaRPr lang="en-GB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913132-5558-BAFC-37FF-14FE66914A93}"/>
              </a:ext>
            </a:extLst>
          </p:cNvPr>
          <p:cNvSpPr/>
          <p:nvPr/>
        </p:nvSpPr>
        <p:spPr bwMode="auto">
          <a:xfrm>
            <a:off x="4799424" y="1293410"/>
            <a:ext cx="288032" cy="103493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9696B8-F8D8-40EE-A613-1AA7934F1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5470" y="5157192"/>
            <a:ext cx="6001879" cy="106820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1E9610F5-5171-A189-43FA-AC8B55DBB91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3E1432EB-F6D8-2E0F-389C-648619A17166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BFD1C8-8B61-BED0-37A9-BDDB3973688F}"/>
              </a:ext>
            </a:extLst>
          </p:cNvPr>
          <p:cNvSpPr/>
          <p:nvPr/>
        </p:nvSpPr>
        <p:spPr bwMode="auto">
          <a:xfrm>
            <a:off x="911424" y="4149080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3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Collaboration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Customers can add collaborator themselves in the Portal for their colleagues or other non-Infineon people. If they need to add Infineon colleagues, they need to request via discussion board.</a:t>
            </a:r>
          </a:p>
        </p:txBody>
      </p:sp>
      <p:pic>
        <p:nvPicPr>
          <p:cNvPr id="16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34F2CD51-115D-D863-40EA-9D0CB1B7C63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E92AEDFA-0B50-72EE-7167-878321C9798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B59A49CE-9EA2-9CBD-F1DC-D886DAFFCB3D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69E4D3-B523-F1A4-9DFF-4040EA97139D}"/>
              </a:ext>
            </a:extLst>
          </p:cNvPr>
          <p:cNvSpPr/>
          <p:nvPr/>
        </p:nvSpPr>
        <p:spPr bwMode="auto">
          <a:xfrm>
            <a:off x="191344" y="2739400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0232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Discussion board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The interaction section where there is exchange of information/comments between CRM users (Case owners, Collaborators) and portal users (Case creators). It provides options to add internal and external comments on the case.</a:t>
            </a:r>
            <a:endParaRPr lang="en-GB" sz="2400" dirty="0"/>
          </a:p>
        </p:txBody>
      </p:sp>
      <p:pic>
        <p:nvPicPr>
          <p:cNvPr id="11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92EA36CC-3A5E-DFC6-4AB4-FAB2338A0B2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C64F68D6-DAE1-D3C8-7883-52D8D0FDF9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AC2B724E-8880-89A4-0345-41CE89DA3EA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376671-0F56-B7F2-54A5-F8FDBFF3BA49}"/>
              </a:ext>
            </a:extLst>
          </p:cNvPr>
          <p:cNvSpPr/>
          <p:nvPr/>
        </p:nvSpPr>
        <p:spPr bwMode="auto">
          <a:xfrm>
            <a:off x="191344" y="5126097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8080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7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Attachment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endParaRPr lang="en-GB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 (Mandatory)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CC logs in CYPD4500 PD3.0 / PD2.0 (Mandatory)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 C-Tracker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Others (test reports, screenshots or anything helpful to issues)</a:t>
            </a:r>
          </a:p>
          <a:p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Recommended</a:t>
            </a:r>
            <a:endParaRPr lang="en-GB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CC with SALEAE Pro at 1.2V digital (IFTW Logger)</a:t>
            </a: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302901DC-CCDA-2ECB-A6DF-F860EA2009D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09A4EFB5-8B25-D075-C869-3DABEC0E740E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2803CAD-D086-17AB-3BA5-CEE9AF1D17D4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7786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Attachment format and file size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Upload limitation: 50MB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 NOT overwrite if possible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Now allowed: 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ade;adp;app;asa;ashx;asmx;asp;bas;bat;cdx;cer;chm;class;cmd;com;config;cpl;crt;csh;dll;exe;fxp;hlp;hta;htr;htw;ida;idc;idq;inf;ins;isp;its;jar;js;jse;ksh;lnk;mad;maf;mag;mam;maq;mar;mas;mat;mau;mav;maw;mda;mdb;mde;mdt;mdw;mdz;msc;msh;msh1;msh1xml;msh2;msh2xml;mshxml;msi;msp;mst;ops;pcd;pif;prf;prg;printer;pst;reg;rem;scf;scr;sct;shb;shs;shtm;shtml;soap;stm;tmp;url;vb;vbe;vbs;vsmacros;vss;vst;vsw;ws;wsc;wsf;wsh.</a:t>
            </a: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72C361BB-A291-BB3E-A5B9-C32DBAF424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064" y="2337010"/>
            <a:ext cx="3799437" cy="189545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4E80D14B-713D-18E7-67D3-2521BE8EEFAA}"/>
              </a:ext>
            </a:extLst>
          </p:cNvPr>
          <p:cNvSpPr/>
          <p:nvPr/>
        </p:nvSpPr>
        <p:spPr bwMode="auto">
          <a:xfrm>
            <a:off x="7464152" y="2972443"/>
            <a:ext cx="1632181" cy="312297"/>
          </a:xfrm>
          <a:prstGeom prst="ellipse">
            <a:avLst/>
          </a:prstGeom>
          <a:noFill/>
          <a:ln w="38100">
            <a:solidFill>
              <a:schemeClr val="accent4"/>
            </a:solidFill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1C74157E-BDF0-6BE5-C487-283E455AFB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282FC0F4-8664-2972-96B1-2C3E3D00C1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49650E0-D7A0-8836-4A23-385B4F07DED2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53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9274460-5D35-BD96-5B46-512DDB9D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IFTW WCS Logger – 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helper for log collection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17DE3-22BF-2C29-319B-AE44B8D1F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747F1-CB31-8359-D968-9AEE676EB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0188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05 Banded Rows">
            <a:extLst>
              <a:ext uri="{FF2B5EF4-FFF2-40B4-BE49-F238E27FC236}">
                <a16:creationId xmlns:a16="http://schemas.microsoft.com/office/drawing/2014/main" id="{FA573056-D49F-F9CA-6750-954D61F68F74}"/>
              </a:ext>
            </a:extLst>
          </p:cNvPr>
          <p:cNvGraphicFramePr>
            <a:graphicFrameLocks noGrp="1"/>
          </p:cNvGraphicFramePr>
          <p:nvPr>
            <p:ph sz="quarter" idx="13"/>
            <p:custDataLst>
              <p:tags r:id="rId1"/>
            </p:custDataLst>
          </p:nvPr>
        </p:nvGraphicFramePr>
        <p:xfrm>
          <a:off x="334963" y="1268413"/>
          <a:ext cx="11520000" cy="4675632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368549">
                  <a:extLst>
                    <a:ext uri="{9D8B030D-6E8A-4147-A177-3AD203B41FA5}">
                      <a16:colId xmlns:a16="http://schemas.microsoft.com/office/drawing/2014/main" val="403855191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192548533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849339206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587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endParaRPr lang="en-GB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INTEL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AMD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EVK Board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Checking Points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601009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HW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PCH_INT0#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PCH_INT1# 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(Maple Ridge only)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PCH_SCL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BBR_PWR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BBR_RST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APU_RST#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APU_INT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APU_SCL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Retimer_SCL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HPD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MUX_SDA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MUX_SCL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HPD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the I/O behavior normal !?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the SBU signal normal !?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18055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enter DP Alt mode?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device issue the Attention HPD High message to Host?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233178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I2C 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 I2C Log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 I2C Log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Compare the PASS log and Fail log to dig out is anything abnormal.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581687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6B142A3-3E18-4302-85FC-39EF0216B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The WCS PD Host E2 training</a:t>
            </a:r>
          </a:p>
        </p:txBody>
      </p:sp>
    </p:spTree>
    <p:extLst>
      <p:ext uri="{BB962C8B-B14F-4D97-AF65-F5344CB8AC3E}">
        <p14:creationId xmlns:p14="http://schemas.microsoft.com/office/powerpoint/2010/main" val="300200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>
            <a:extLst>
              <a:ext uri="{FF2B5EF4-FFF2-40B4-BE49-F238E27FC236}">
                <a16:creationId xmlns:a16="http://schemas.microsoft.com/office/drawing/2014/main" id="{0F0E0851-3A99-1BFF-02E7-8CBA57F62B69}"/>
              </a:ext>
            </a:extLst>
          </p:cNvPr>
          <p:cNvSpPr txBox="1"/>
          <p:nvPr/>
        </p:nvSpPr>
        <p:spPr bwMode="auto">
          <a:xfrm>
            <a:off x="6096000" y="163172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97CF27-C406-00C3-E3DC-B4DDE7DBCC65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6959888" y="141280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EE3778E-D02B-37CD-BE51-0898D215975C}"/>
              </a:ext>
            </a:extLst>
          </p:cNvPr>
          <p:cNvSpPr txBox="1"/>
          <p:nvPr/>
        </p:nvSpPr>
        <p:spPr bwMode="auto">
          <a:xfrm>
            <a:off x="7040187" y="1320467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issue report flow 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Flowchart: Predefined Process 1">
            <a:extLst>
              <a:ext uri="{FF2B5EF4-FFF2-40B4-BE49-F238E27FC236}">
                <a16:creationId xmlns:a16="http://schemas.microsoft.com/office/drawing/2014/main" id="{CEF85EF5-2447-4CE9-3DED-4A719C00AD2F}"/>
              </a:ext>
            </a:extLst>
          </p:cNvPr>
          <p:cNvSpPr/>
          <p:nvPr/>
        </p:nvSpPr>
        <p:spPr bwMode="auto">
          <a:xfrm>
            <a:off x="2351584" y="1196752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Start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9C05F1-8264-537F-8A64-B52315767EC3}"/>
              </a:ext>
            </a:extLst>
          </p:cNvPr>
          <p:cNvSpPr/>
          <p:nvPr/>
        </p:nvSpPr>
        <p:spPr bwMode="auto">
          <a:xfrm>
            <a:off x="5087888" y="1839204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Fill up </a:t>
            </a:r>
          </a:p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E4C56-9A4F-B720-196B-1ADACFF83136}"/>
              </a:ext>
            </a:extLst>
          </p:cNvPr>
          <p:cNvSpPr/>
          <p:nvPr/>
        </p:nvSpPr>
        <p:spPr bwMode="auto">
          <a:xfrm>
            <a:off x="5087888" y="250042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Collect pass and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fail cases logs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2A520-3563-F4F6-AC00-70DB9E75CC0D}"/>
              </a:ext>
            </a:extLst>
          </p:cNvPr>
          <p:cNvSpPr/>
          <p:nvPr/>
        </p:nvSpPr>
        <p:spPr bwMode="auto">
          <a:xfrm>
            <a:off x="2351584" y="314842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Submit an MSD case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8836A3-BFF7-BA62-E5B7-E62AAA04EDCE}"/>
              </a:ext>
            </a:extLst>
          </p:cNvPr>
          <p:cNvSpPr/>
          <p:nvPr/>
        </p:nvSpPr>
        <p:spPr bwMode="auto">
          <a:xfrm>
            <a:off x="5087888" y="3793694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Trial solutions released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Flowchart: Decision 12">
            <a:extLst>
              <a:ext uri="{FF2B5EF4-FFF2-40B4-BE49-F238E27FC236}">
                <a16:creationId xmlns:a16="http://schemas.microsoft.com/office/drawing/2014/main" id="{5864F398-B2BE-6F3E-163F-601DA8C1BFAF}"/>
              </a:ext>
            </a:extLst>
          </p:cNvPr>
          <p:cNvSpPr/>
          <p:nvPr/>
        </p:nvSpPr>
        <p:spPr bwMode="auto">
          <a:xfrm>
            <a:off x="5087888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Issue resolved?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06654-AFFD-C2B9-E0F6-38DE30E8A4B2}"/>
              </a:ext>
            </a:extLst>
          </p:cNvPr>
          <p:cNvSpPr/>
          <p:nvPr/>
        </p:nvSpPr>
        <p:spPr bwMode="auto">
          <a:xfrm>
            <a:off x="5087888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Confirmations from </a:t>
            </a:r>
          </a:p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ODM/OEM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AAC021-6BD4-1ADE-C267-19BD11DEE219}"/>
              </a:ext>
            </a:extLst>
          </p:cNvPr>
          <p:cNvSpPr/>
          <p:nvPr/>
        </p:nvSpPr>
        <p:spPr bwMode="auto">
          <a:xfrm>
            <a:off x="5087888" y="573791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Official release</a:t>
            </a:r>
          </a:p>
        </p:txBody>
      </p:sp>
      <p:sp>
        <p:nvSpPr>
          <p:cNvPr id="102" name="Flowchart: Predefined Process 101">
            <a:extLst>
              <a:ext uri="{FF2B5EF4-FFF2-40B4-BE49-F238E27FC236}">
                <a16:creationId xmlns:a16="http://schemas.microsoft.com/office/drawing/2014/main" id="{757F0786-9DEC-7A8B-D90B-449B25A692D3}"/>
              </a:ext>
            </a:extLst>
          </p:cNvPr>
          <p:cNvSpPr/>
          <p:nvPr/>
        </p:nvSpPr>
        <p:spPr bwMode="auto">
          <a:xfrm>
            <a:off x="7824192" y="573791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Case closed</a:t>
            </a: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8A51A39F-C759-FF5A-7D89-EF8F5D30217E}"/>
              </a:ext>
            </a:extLst>
          </p:cNvPr>
          <p:cNvSpPr/>
          <p:nvPr/>
        </p:nvSpPr>
        <p:spPr bwMode="auto">
          <a:xfrm>
            <a:off x="5087888" y="119680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IFX issues?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Flowchart: Predefined Process 17">
            <a:extLst>
              <a:ext uri="{FF2B5EF4-FFF2-40B4-BE49-F238E27FC236}">
                <a16:creationId xmlns:a16="http://schemas.microsoft.com/office/drawing/2014/main" id="{346E4798-D3A5-6467-F08E-0ED972A68EF1}"/>
              </a:ext>
            </a:extLst>
          </p:cNvPr>
          <p:cNvSpPr/>
          <p:nvPr/>
        </p:nvSpPr>
        <p:spPr bwMode="auto">
          <a:xfrm>
            <a:off x="7824192" y="119680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Issue transfer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027ECBC-C30B-BC0E-2BFE-0F790668FEEE}"/>
              </a:ext>
            </a:extLst>
          </p:cNvPr>
          <p:cNvCxnSpPr>
            <a:cxnSpLocks/>
            <a:stCxn id="8" idx="2"/>
            <a:endCxn id="6" idx="0"/>
          </p:cNvCxnSpPr>
          <p:nvPr/>
        </p:nvCxnSpPr>
        <p:spPr>
          <a:xfrm>
            <a:off x="6023888" y="1628800"/>
            <a:ext cx="0" cy="2104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AD3947-0598-8B4F-5E8C-6FC83E4EEBD0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6023888" y="4225694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BC0EB06-3ABC-AE37-F752-4D3D9F3582D1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6023888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8F00845-6ABC-946C-7CE8-0375BF5039F7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>
            <a:off x="6023888" y="5521838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F1D8B93-E692-6430-CF76-4ADAB0FC8F09}"/>
              </a:ext>
            </a:extLst>
          </p:cNvPr>
          <p:cNvCxnSpPr>
            <a:stCxn id="17" idx="3"/>
            <a:endCxn id="102" idx="1"/>
          </p:cNvCxnSpPr>
          <p:nvPr/>
        </p:nvCxnSpPr>
        <p:spPr>
          <a:xfrm>
            <a:off x="6959888" y="595391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250CEF5-CBAC-57C1-2234-3CCFA3938CF5}"/>
              </a:ext>
            </a:extLst>
          </p:cNvPr>
          <p:cNvCxnSpPr>
            <a:cxnSpLocks/>
            <a:stCxn id="13" idx="3"/>
            <a:endCxn id="6" idx="3"/>
          </p:cNvCxnSpPr>
          <p:nvPr/>
        </p:nvCxnSpPr>
        <p:spPr>
          <a:xfrm flipV="1">
            <a:off x="6959888" y="2055204"/>
            <a:ext cx="12700" cy="2602562"/>
          </a:xfrm>
          <a:prstGeom prst="bentConnector3">
            <a:avLst>
              <a:gd name="adj1" fmla="val 681677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5877069-F098-9040-CB5D-EED44782CCF0}"/>
              </a:ext>
            </a:extLst>
          </p:cNvPr>
          <p:cNvSpPr txBox="1"/>
          <p:nvPr/>
        </p:nvSpPr>
        <p:spPr bwMode="auto">
          <a:xfrm>
            <a:off x="7040187" y="456543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99CD8BA-6EB2-2DC3-B465-944188BCC548}"/>
              </a:ext>
            </a:extLst>
          </p:cNvPr>
          <p:cNvSpPr txBox="1"/>
          <p:nvPr/>
        </p:nvSpPr>
        <p:spPr bwMode="auto">
          <a:xfrm>
            <a:off x="6096000" y="4886021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933FC4-1638-CF4F-AF42-AC0228F7276E}"/>
              </a:ext>
            </a:extLst>
          </p:cNvPr>
          <p:cNvCxnSpPr>
            <a:stCxn id="2" idx="3"/>
            <a:endCxn id="8" idx="1"/>
          </p:cNvCxnSpPr>
          <p:nvPr/>
        </p:nvCxnSpPr>
        <p:spPr>
          <a:xfrm>
            <a:off x="4223584" y="1412752"/>
            <a:ext cx="864304" cy="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F00204C-3629-801E-4073-317D9411055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023888" y="2271204"/>
            <a:ext cx="0" cy="229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Flowchart: Decision 28">
            <a:extLst>
              <a:ext uri="{FF2B5EF4-FFF2-40B4-BE49-F238E27FC236}">
                <a16:creationId xmlns:a16="http://schemas.microsoft.com/office/drawing/2014/main" id="{7E75238B-3A9E-C86C-C827-DCD281C39CFA}"/>
              </a:ext>
            </a:extLst>
          </p:cNvPr>
          <p:cNvSpPr/>
          <p:nvPr/>
        </p:nvSpPr>
        <p:spPr bwMode="auto">
          <a:xfrm>
            <a:off x="5087888" y="314842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MSD case exist?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D9ACD6-86D6-77A0-DC35-1141D4BE1F64}"/>
              </a:ext>
            </a:extLst>
          </p:cNvPr>
          <p:cNvCxnSpPr>
            <a:stCxn id="7" idx="2"/>
            <a:endCxn id="29" idx="0"/>
          </p:cNvCxnSpPr>
          <p:nvPr/>
        </p:nvCxnSpPr>
        <p:spPr>
          <a:xfrm>
            <a:off x="6023888" y="2932420"/>
            <a:ext cx="0" cy="21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B532424-6303-2DD0-4D80-3768CA9AA7A1}"/>
              </a:ext>
            </a:extLst>
          </p:cNvPr>
          <p:cNvCxnSpPr>
            <a:stCxn id="29" idx="2"/>
            <a:endCxn id="11" idx="0"/>
          </p:cNvCxnSpPr>
          <p:nvPr/>
        </p:nvCxnSpPr>
        <p:spPr>
          <a:xfrm>
            <a:off x="6023888" y="3580420"/>
            <a:ext cx="0" cy="2132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1E72FD0-6639-4F86-8524-288E1632B904}"/>
              </a:ext>
            </a:extLst>
          </p:cNvPr>
          <p:cNvCxnSpPr>
            <a:stCxn id="29" idx="1"/>
            <a:endCxn id="9" idx="3"/>
          </p:cNvCxnSpPr>
          <p:nvPr/>
        </p:nvCxnSpPr>
        <p:spPr>
          <a:xfrm flipH="1">
            <a:off x="4223584" y="336442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DED4C08-2E52-9881-DD9B-3F73B855318E}"/>
              </a:ext>
            </a:extLst>
          </p:cNvPr>
          <p:cNvCxnSpPr>
            <a:stCxn id="9" idx="2"/>
            <a:endCxn id="11" idx="1"/>
          </p:cNvCxnSpPr>
          <p:nvPr/>
        </p:nvCxnSpPr>
        <p:spPr>
          <a:xfrm rot="16200000" flipH="1">
            <a:off x="3973099" y="2894905"/>
            <a:ext cx="429274" cy="18003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674BA98-107C-00F5-144C-94312EAB9CAB}"/>
              </a:ext>
            </a:extLst>
          </p:cNvPr>
          <p:cNvSpPr txBox="1"/>
          <p:nvPr/>
        </p:nvSpPr>
        <p:spPr bwMode="auto">
          <a:xfrm>
            <a:off x="6096000" y="358987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D91EB3F-FBE5-924B-7CC3-318ED4F22936}"/>
              </a:ext>
            </a:extLst>
          </p:cNvPr>
          <p:cNvSpPr txBox="1"/>
          <p:nvPr/>
        </p:nvSpPr>
        <p:spPr bwMode="auto">
          <a:xfrm>
            <a:off x="4815665" y="3264152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618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Release firmware / documents on case system instead of emails.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Turn down cases if insufficient information is provided.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CYPD4500 CC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 C-Tracker logs (Dell)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Others (optional)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We will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735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4892A-9389-D1A5-6EC9-075F6766CCFA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Specialised for WCS PC host applications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</a:t>
            </a: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Issue Tracker Form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908B871E-E9BC-D235-D6F3-23D8EA14092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14458" y="1268413"/>
            <a:ext cx="5129022" cy="5113337"/>
          </a:xfrm>
        </p:spPr>
      </p:pic>
    </p:spTree>
    <p:extLst>
      <p:ext uri="{BB962C8B-B14F-4D97-AF65-F5344CB8AC3E}">
        <p14:creationId xmlns:p14="http://schemas.microsoft.com/office/powerpoint/2010/main" val="29617888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A242124-4F36-A5EA-62B5-5B2610E96C7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4962" y="1185908"/>
            <a:ext cx="6697142" cy="5277548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4892A-9389-D1A5-6EC9-075F6766CCF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36160" y="1268414"/>
            <a:ext cx="4320480" cy="5113337"/>
          </a:xfrm>
        </p:spPr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Generic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USB-C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PD/PD to EC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AMD/INTEL Platform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 to APU/Ridge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 to MUX/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Retimer</a:t>
            </a:r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Saleae Logic/</a:t>
            </a:r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C-Tracker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Start Recording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Pass Case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Fail Case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2711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 CY4500.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 SALEAE 16ch Pro Logic Analyser.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C-Tracker (optional).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EZ-PD Protocol Analyzer Utility v3.1.x.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SALEAE Logic2 v2.4.0+.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Saleae_PDCC_Release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” CC analyser plugin.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“I2C_HPI” I</a:t>
            </a:r>
            <a:r>
              <a:rPr lang="en-GB" sz="2000" baseline="30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 analyser plugin.</a:t>
            </a:r>
          </a:p>
          <a:p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Type-C Tracker Analyzer.</a:t>
            </a:r>
          </a:p>
          <a:p>
            <a:pPr marL="0" indent="0">
              <a:buNone/>
            </a:pP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Prerequisites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BA4D2BE-3340-E9E1-A8A1-8C1BD6680764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Download: 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https://drive.google.com/drive/folders/1AqxentVzGbndPK5DALp_iF4E_E6OO_a0?usp=sharing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559E4FC-4581-C7F6-0A2A-65657972B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032" y="3181885"/>
            <a:ext cx="5399405" cy="322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067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Function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Flowchart: Predefined Process 1">
            <a:extLst>
              <a:ext uri="{FF2B5EF4-FFF2-40B4-BE49-F238E27FC236}">
                <a16:creationId xmlns:a16="http://schemas.microsoft.com/office/drawing/2014/main" id="{CEF85EF5-2447-4CE9-3DED-4A719C00AD2F}"/>
              </a:ext>
            </a:extLst>
          </p:cNvPr>
          <p:cNvSpPr/>
          <p:nvPr/>
        </p:nvSpPr>
        <p:spPr bwMode="auto">
          <a:xfrm>
            <a:off x="2351584" y="1196752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Launch Logger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9C05F1-8264-537F-8A64-B52315767EC3}"/>
              </a:ext>
            </a:extLst>
          </p:cNvPr>
          <p:cNvSpPr/>
          <p:nvPr/>
        </p:nvSpPr>
        <p:spPr bwMode="auto">
          <a:xfrm>
            <a:off x="5087888" y="119675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Fill up all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E4C56-9A4F-B720-196B-1ADACFF83136}"/>
              </a:ext>
            </a:extLst>
          </p:cNvPr>
          <p:cNvSpPr/>
          <p:nvPr/>
        </p:nvSpPr>
        <p:spPr bwMode="auto">
          <a:xfrm>
            <a:off x="5087888" y="185234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Connect pins accordingly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2A520-3563-F4F6-AC00-70DB9E75CC0D}"/>
              </a:ext>
            </a:extLst>
          </p:cNvPr>
          <p:cNvSpPr/>
          <p:nvPr/>
        </p:nvSpPr>
        <p:spPr bwMode="auto">
          <a:xfrm>
            <a:off x="5087888" y="249755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“Start Recording”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8836A3-BFF7-BA62-E5B7-E62AAA04EDCE}"/>
              </a:ext>
            </a:extLst>
          </p:cNvPr>
          <p:cNvSpPr/>
          <p:nvPr/>
        </p:nvSpPr>
        <p:spPr bwMode="auto">
          <a:xfrm>
            <a:off x="5087888" y="314562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Do issue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replication steps</a:t>
            </a:r>
          </a:p>
        </p:txBody>
      </p:sp>
      <p:sp>
        <p:nvSpPr>
          <p:cNvPr id="12" name="Flowchart: Decision 11">
            <a:extLst>
              <a:ext uri="{FF2B5EF4-FFF2-40B4-BE49-F238E27FC236}">
                <a16:creationId xmlns:a16="http://schemas.microsoft.com/office/drawing/2014/main" id="{BC77F2C0-EDF1-BC98-6428-2531A9588524}"/>
              </a:ext>
            </a:extLst>
          </p:cNvPr>
          <p:cNvSpPr/>
          <p:nvPr/>
        </p:nvSpPr>
        <p:spPr bwMode="auto">
          <a:xfrm>
            <a:off x="2495600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Save as Fail Case?</a:t>
            </a:r>
          </a:p>
        </p:txBody>
      </p:sp>
      <p:sp>
        <p:nvSpPr>
          <p:cNvPr id="13" name="Flowchart: Decision 12">
            <a:extLst>
              <a:ext uri="{FF2B5EF4-FFF2-40B4-BE49-F238E27FC236}">
                <a16:creationId xmlns:a16="http://schemas.microsoft.com/office/drawing/2014/main" id="{5864F398-B2BE-6F3E-163F-601DA8C1BFAF}"/>
              </a:ext>
            </a:extLst>
          </p:cNvPr>
          <p:cNvSpPr/>
          <p:nvPr/>
        </p:nvSpPr>
        <p:spPr bwMode="auto">
          <a:xfrm>
            <a:off x="5087888" y="3793694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See issues?</a:t>
            </a:r>
          </a:p>
        </p:txBody>
      </p:sp>
      <p:sp>
        <p:nvSpPr>
          <p:cNvPr id="14" name="Flowchart: Decision 13">
            <a:extLst>
              <a:ext uri="{FF2B5EF4-FFF2-40B4-BE49-F238E27FC236}">
                <a16:creationId xmlns:a16="http://schemas.microsoft.com/office/drawing/2014/main" id="{BD87C006-406B-3F7F-A746-3314CBCD34A5}"/>
              </a:ext>
            </a:extLst>
          </p:cNvPr>
          <p:cNvSpPr/>
          <p:nvPr/>
        </p:nvSpPr>
        <p:spPr bwMode="auto">
          <a:xfrm>
            <a:off x="7680384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Save as Pass Case?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06654-AFFD-C2B9-E0F6-38DE30E8A4B2}"/>
              </a:ext>
            </a:extLst>
          </p:cNvPr>
          <p:cNvSpPr/>
          <p:nvPr/>
        </p:nvSpPr>
        <p:spPr bwMode="auto">
          <a:xfrm>
            <a:off x="5087888" y="4441766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“Abort Recording”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AD7F3A-F627-F011-76EE-CDF5F90F5ABD}"/>
              </a:ext>
            </a:extLst>
          </p:cNvPr>
          <p:cNvSpPr/>
          <p:nvPr/>
        </p:nvSpPr>
        <p:spPr bwMode="auto">
          <a:xfrm>
            <a:off x="2495600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“Fail Case”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AAC021-6BD4-1ADE-C267-19BD11DEE219}"/>
              </a:ext>
            </a:extLst>
          </p:cNvPr>
          <p:cNvSpPr/>
          <p:nvPr/>
        </p:nvSpPr>
        <p:spPr bwMode="auto">
          <a:xfrm>
            <a:off x="7680384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“Pass Case”</a:t>
            </a:r>
          </a:p>
        </p:txBody>
      </p:sp>
      <p:sp>
        <p:nvSpPr>
          <p:cNvPr id="83" name="Flowchart: Decision 82">
            <a:extLst>
              <a:ext uri="{FF2B5EF4-FFF2-40B4-BE49-F238E27FC236}">
                <a16:creationId xmlns:a16="http://schemas.microsoft.com/office/drawing/2014/main" id="{96448D70-7C1A-A969-2174-37BCAD6B2A56}"/>
              </a:ext>
            </a:extLst>
          </p:cNvPr>
          <p:cNvSpPr/>
          <p:nvPr/>
        </p:nvSpPr>
        <p:spPr bwMode="auto">
          <a:xfrm>
            <a:off x="5087888" y="573785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Finish?</a:t>
            </a:r>
          </a:p>
        </p:txBody>
      </p:sp>
      <p:sp>
        <p:nvSpPr>
          <p:cNvPr id="102" name="Flowchart: Predefined Process 101">
            <a:extLst>
              <a:ext uri="{FF2B5EF4-FFF2-40B4-BE49-F238E27FC236}">
                <a16:creationId xmlns:a16="http://schemas.microsoft.com/office/drawing/2014/main" id="{757F0786-9DEC-7A8B-D90B-449B25A692D3}"/>
              </a:ext>
            </a:extLst>
          </p:cNvPr>
          <p:cNvSpPr/>
          <p:nvPr/>
        </p:nvSpPr>
        <p:spPr bwMode="auto">
          <a:xfrm>
            <a:off x="7680384" y="573791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Exit Logger</a:t>
            </a:r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85E8A248-5CFB-5EEE-B6F1-52163D52F2C5}"/>
              </a:ext>
            </a:extLst>
          </p:cNvPr>
          <p:cNvCxnSpPr>
            <a:stCxn id="16" idx="3"/>
            <a:endCxn id="83" idx="0"/>
          </p:cNvCxnSpPr>
          <p:nvPr/>
        </p:nvCxnSpPr>
        <p:spPr>
          <a:xfrm>
            <a:off x="4367600" y="5305838"/>
            <a:ext cx="1656288" cy="432012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: Elbow 199">
            <a:extLst>
              <a:ext uri="{FF2B5EF4-FFF2-40B4-BE49-F238E27FC236}">
                <a16:creationId xmlns:a16="http://schemas.microsoft.com/office/drawing/2014/main" id="{52ADBC01-0D49-C1FE-80AF-C7C608B58CBD}"/>
              </a:ext>
            </a:extLst>
          </p:cNvPr>
          <p:cNvCxnSpPr>
            <a:stCxn id="17" idx="1"/>
            <a:endCxn id="83" idx="0"/>
          </p:cNvCxnSpPr>
          <p:nvPr/>
        </p:nvCxnSpPr>
        <p:spPr>
          <a:xfrm rot="10800000" flipV="1">
            <a:off x="6023888" y="5305838"/>
            <a:ext cx="1656496" cy="432012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5AE2401C-6337-EE4F-CA55-E7A9F530699B}"/>
              </a:ext>
            </a:extLst>
          </p:cNvPr>
          <p:cNvCxnSpPr>
            <a:stCxn id="83" idx="2"/>
            <a:endCxn id="9" idx="1"/>
          </p:cNvCxnSpPr>
          <p:nvPr/>
        </p:nvCxnSpPr>
        <p:spPr>
          <a:xfrm rot="5400000" flipH="1">
            <a:off x="3827738" y="3973700"/>
            <a:ext cx="3456300" cy="936000"/>
          </a:xfrm>
          <a:prstGeom prst="bentConnector4">
            <a:avLst>
              <a:gd name="adj1" fmla="val -6614"/>
              <a:gd name="adj2" fmla="val 426323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6725CF7A-79E5-E694-FDE3-4F3E576DDF0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4223584" y="1412752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D6E0A5A7-39D7-FE67-8952-D5B2FF9FD48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023888" y="1628752"/>
            <a:ext cx="0" cy="223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743E72DC-FDA3-6A7E-1530-FBF346C0EDAB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6023888" y="2284348"/>
            <a:ext cx="0" cy="2132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5D6B3456-2693-3C6F-F195-1586FEC1E419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6023888" y="2929550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58183567-ED7F-DB2D-9D15-465B2FC86C9D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6023888" y="3577622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651E9489-3449-F83E-2E20-B1FB23296A21}"/>
              </a:ext>
            </a:extLst>
          </p:cNvPr>
          <p:cNvCxnSpPr>
            <a:stCxn id="13" idx="1"/>
            <a:endCxn id="12" idx="0"/>
          </p:cNvCxnSpPr>
          <p:nvPr/>
        </p:nvCxnSpPr>
        <p:spPr>
          <a:xfrm rot="10800000" flipV="1">
            <a:off x="3431600" y="4009694"/>
            <a:ext cx="1656288" cy="432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08C09727-5BB2-8C05-AF4B-00FF8E0D589F}"/>
              </a:ext>
            </a:extLst>
          </p:cNvPr>
          <p:cNvCxnSpPr>
            <a:stCxn id="13" idx="3"/>
            <a:endCxn id="14" idx="0"/>
          </p:cNvCxnSpPr>
          <p:nvPr/>
        </p:nvCxnSpPr>
        <p:spPr>
          <a:xfrm>
            <a:off x="6959888" y="4009694"/>
            <a:ext cx="1656496" cy="432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11D1E34B-A63E-3DC5-EC84-4CB616D4A248}"/>
              </a:ext>
            </a:extLst>
          </p:cNvPr>
          <p:cNvCxnSpPr>
            <a:stCxn id="12" idx="3"/>
            <a:endCxn id="15" idx="1"/>
          </p:cNvCxnSpPr>
          <p:nvPr/>
        </p:nvCxnSpPr>
        <p:spPr>
          <a:xfrm>
            <a:off x="4367600" y="4657766"/>
            <a:ext cx="7202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D466898-6DD7-FFA2-B9D1-6CC5BD52BA0B}"/>
              </a:ext>
            </a:extLst>
          </p:cNvPr>
          <p:cNvCxnSpPr>
            <a:stCxn id="14" idx="1"/>
            <a:endCxn id="15" idx="3"/>
          </p:cNvCxnSpPr>
          <p:nvPr/>
        </p:nvCxnSpPr>
        <p:spPr>
          <a:xfrm flipH="1">
            <a:off x="6959888" y="4657766"/>
            <a:ext cx="7204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2A69107D-ABC7-E880-77E3-DB1EA1E58C6D}"/>
              </a:ext>
            </a:extLst>
          </p:cNvPr>
          <p:cNvCxnSpPr>
            <a:stCxn id="12" idx="2"/>
            <a:endCxn id="16" idx="0"/>
          </p:cNvCxnSpPr>
          <p:nvPr/>
        </p:nvCxnSpPr>
        <p:spPr>
          <a:xfrm>
            <a:off x="3431600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B405B8FC-9084-725A-B4BF-A49859FBDD50}"/>
              </a:ext>
            </a:extLst>
          </p:cNvPr>
          <p:cNvCxnSpPr>
            <a:stCxn id="14" idx="2"/>
            <a:endCxn id="17" idx="0"/>
          </p:cNvCxnSpPr>
          <p:nvPr/>
        </p:nvCxnSpPr>
        <p:spPr>
          <a:xfrm>
            <a:off x="8616384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2E948A63-BCC2-4F17-F6F3-A8DA3BA021F3}"/>
              </a:ext>
            </a:extLst>
          </p:cNvPr>
          <p:cNvCxnSpPr>
            <a:stCxn id="83" idx="3"/>
            <a:endCxn id="102" idx="1"/>
          </p:cNvCxnSpPr>
          <p:nvPr/>
        </p:nvCxnSpPr>
        <p:spPr>
          <a:xfrm>
            <a:off x="6959888" y="5953850"/>
            <a:ext cx="720496" cy="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513338DA-1BEB-F172-F158-C6E152F7795D}"/>
              </a:ext>
            </a:extLst>
          </p:cNvPr>
          <p:cNvSpPr txBox="1"/>
          <p:nvPr/>
        </p:nvSpPr>
        <p:spPr bwMode="auto">
          <a:xfrm>
            <a:off x="4668553" y="3901972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94AF6071-5A12-98B6-12A9-5D06B0402734}"/>
              </a:ext>
            </a:extLst>
          </p:cNvPr>
          <p:cNvSpPr txBox="1"/>
          <p:nvPr/>
        </p:nvSpPr>
        <p:spPr bwMode="auto">
          <a:xfrm>
            <a:off x="7130757" y="390191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66EC180B-CC54-2B5F-A4EC-44C500EC9D6F}"/>
              </a:ext>
            </a:extLst>
          </p:cNvPr>
          <p:cNvSpPr txBox="1"/>
          <p:nvPr/>
        </p:nvSpPr>
        <p:spPr bwMode="auto">
          <a:xfrm>
            <a:off x="3487904" y="4873766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EB2C40F-465D-105B-3888-65EAA33AB731}"/>
              </a:ext>
            </a:extLst>
          </p:cNvPr>
          <p:cNvSpPr txBox="1"/>
          <p:nvPr/>
        </p:nvSpPr>
        <p:spPr bwMode="auto">
          <a:xfrm>
            <a:off x="8688288" y="487564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98BF4545-FE89-BC00-6F2C-BE36B35BC734}"/>
              </a:ext>
            </a:extLst>
          </p:cNvPr>
          <p:cNvSpPr txBox="1"/>
          <p:nvPr/>
        </p:nvSpPr>
        <p:spPr bwMode="auto">
          <a:xfrm>
            <a:off x="7098412" y="586151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B875728C-63CE-F3FB-91B2-4922CFC7D686}"/>
              </a:ext>
            </a:extLst>
          </p:cNvPr>
          <p:cNvSpPr txBox="1"/>
          <p:nvPr/>
        </p:nvSpPr>
        <p:spPr bwMode="auto">
          <a:xfrm>
            <a:off x="7411754" y="456537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33656628-24BB-CAF5-6555-2CB2A84DCD01}"/>
              </a:ext>
            </a:extLst>
          </p:cNvPr>
          <p:cNvSpPr txBox="1"/>
          <p:nvPr/>
        </p:nvSpPr>
        <p:spPr bwMode="auto">
          <a:xfrm>
            <a:off x="4455090" y="456543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FDCB4969-217F-897C-66CB-4F1834070AF4}"/>
              </a:ext>
            </a:extLst>
          </p:cNvPr>
          <p:cNvSpPr txBox="1"/>
          <p:nvPr/>
        </p:nvSpPr>
        <p:spPr bwMode="auto">
          <a:xfrm>
            <a:off x="5735960" y="629497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E9FA4633-D690-4190-3EBB-2F61064A1496}"/>
              </a:ext>
            </a:extLst>
          </p:cNvPr>
          <p:cNvCxnSpPr>
            <a:stCxn id="15" idx="2"/>
            <a:endCxn id="83" idx="0"/>
          </p:cNvCxnSpPr>
          <p:nvPr/>
        </p:nvCxnSpPr>
        <p:spPr>
          <a:xfrm>
            <a:off x="6023888" y="4873766"/>
            <a:ext cx="0" cy="864084"/>
          </a:xfrm>
          <a:prstGeom prst="line">
            <a:avLst/>
          </a:prstGeom>
          <a:ln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7292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Start Logger.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Fill all information and platform type in Issue Information and mapping SALEAE pins with pre-defined channels or preferred ones.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All fields are mandatory except “OEM Ticket#”.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“Start Recording” button will grey out if any blank field or channel duplicated.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 to start log collecting per setup.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“Abort Recording”, “Pass Case” or “Fail Case” while test finished.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Logger will assign relevant analysers to SALEAE logs and create a folder using current time format contains: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 files.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CY4500 log files.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Setup log: e.g. 20230522.txt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SALEAE use case (1/2)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006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6"/>
            </a:pPr>
            <a:r>
              <a:rPr lang="en-US" sz="2400" b="1" dirty="0">
                <a:latin typeface="Calibri" panose="020F0502020204030204" pitchFamily="34" charset="0"/>
                <a:cs typeface="Calibri" panose="020F0502020204030204" pitchFamily="34" charset="0"/>
              </a:rPr>
              <a:t>Scenario A: SALEAE Logic2 is not running while starting Logger: (recommended)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launch SALEAE Logic2 application with automation supportive automatically.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Keep SALEAE Logic2 application running while log captures are finished.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shutdown SALEAE Logic2 application while Logger is closed.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Scenario B: SALEAE Logic is running while starting Logger: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use the running SALEAE Logic2 application, which needs to </a:t>
            </a:r>
            <a:r>
              <a:rPr lang="en-US" sz="2000" u="sng" dirty="0">
                <a:latin typeface="Calibri" panose="020F0502020204030204" pitchFamily="34" charset="0"/>
                <a:cs typeface="Calibri" panose="020F0502020204030204" pitchFamily="34" charset="0"/>
              </a:rPr>
              <a:t>enable automation server before hand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Keep SALEAE Logic2 application running while log captures are finished.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</a:t>
            </a:r>
            <a:r>
              <a:rPr lang="en-US" sz="2000" i="1" dirty="0">
                <a:latin typeface="Calibri" panose="020F0502020204030204" pitchFamily="34" charset="0"/>
                <a:cs typeface="Calibri" panose="020F0502020204030204" pitchFamily="34" charset="0"/>
              </a:rPr>
              <a:t>***NOT*** 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shutdown SALEAE Logic2 application while Logger is closed.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 again for another capture cycle.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Close Logger while finish test.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SALEAE use case (2/2)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190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Conventional log capture flow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Open issue tracker form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Fill up all fields except “waveforms”, 14 fields in total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Run/Select EZ-PD Protocol Analyzer Utility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Click “Start”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Run/Select Saleae Logic2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Setup channels, mode, bitrate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Click “Start”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Reproduce issues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In EZ-PD Protocol Analyzer Utility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“Stop”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“Save”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Type file name and save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“OK” to close the confirmation dialog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In Saleae Logic2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“Stop”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Assign I2C, UART and CC analysers to channels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Type file name and save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Fill up “waveforms” field in issue tracker forms with all saved log filenames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Go to step4 for another log capture round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4284E2-7488-4D77-DF17-1E0DB2DB1960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In Infineon automation tool flow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Run WCS Logger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Fill up all blank fields, 10 – 12 in total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Reproduce issues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“Pass case” or “Fail case”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Go to step3 for another log capture round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automation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396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20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Logs submission</a:t>
            </a: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1C74157E-BDF0-6BE5-C487-283E455AFB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282FC0F4-8664-2972-96B1-2C3E3D00C1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9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9F315A5-4E42-7F2E-EA6D-A3DDBE80FA1C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Zip all files and submit to case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C250BD8-1DD1-FE09-4598-FE016711DEF2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149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Logger might crash if SALEAE Logic2 application doesn't enable "Automation Server" at Scenario B.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Doesn't support SALEAE Logic Analyser 8ch SKU.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 NOT control log applications directly.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Logger cannot rename channel names in SALEAE logs. 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Limitations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5170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2" name="Speech Bubble: Oval 11">
            <a:extLst>
              <a:ext uri="{FF2B5EF4-FFF2-40B4-BE49-F238E27FC236}">
                <a16:creationId xmlns:a16="http://schemas.microsoft.com/office/drawing/2014/main" id="{893AC7C0-C851-E96D-0C06-1A49A8794984}"/>
              </a:ext>
            </a:extLst>
          </p:cNvPr>
          <p:cNvSpPr/>
          <p:nvPr/>
        </p:nvSpPr>
        <p:spPr bwMode="auto">
          <a:xfrm>
            <a:off x="1703512" y="3848697"/>
            <a:ext cx="1944216" cy="1351860"/>
          </a:xfrm>
          <a:prstGeom prst="wedgeEllipseCallou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GB" sz="3600" baseline="0" dirty="0">
                <a:solidFill>
                  <a:schemeClr val="bg1"/>
                </a:solidFill>
                <a:latin typeface="Arial Black" panose="020B0A04020102020204" pitchFamily="34" charset="0"/>
              </a:rPr>
              <a:t>LINE</a:t>
            </a:r>
          </a:p>
        </p:txBody>
      </p:sp>
      <p:pic>
        <p:nvPicPr>
          <p:cNvPr id="14" name="Send">
            <a:extLst>
              <a:ext uri="{FF2B5EF4-FFF2-40B4-BE49-F238E27FC236}">
                <a16:creationId xmlns:a16="http://schemas.microsoft.com/office/drawing/2014/main" id="{DF573818-83A3-8321-4950-1A4059981B8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77730" y="1844824"/>
            <a:ext cx="1415618" cy="14156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0D9E6F3-0E41-8982-8561-6AC3FD323EB5}"/>
              </a:ext>
            </a:extLst>
          </p:cNvPr>
          <p:cNvSpPr txBox="1"/>
          <p:nvPr/>
        </p:nvSpPr>
        <p:spPr bwMode="auto">
          <a:xfrm>
            <a:off x="4295800" y="2245413"/>
            <a:ext cx="6408712" cy="620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3600" kern="0" baseline="0" dirty="0">
                <a:latin typeface="Calibri" panose="020F0502020204030204" pitchFamily="34" charset="0"/>
                <a:cs typeface="Calibri" panose="020F0502020204030204" pitchFamily="34" charset="0"/>
              </a:rPr>
              <a:t>traven.shih@infineon.com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420178-7FE8-C304-5F43-BED7521E2ED6}"/>
              </a:ext>
            </a:extLst>
          </p:cNvPr>
          <p:cNvSpPr txBox="1"/>
          <p:nvPr/>
        </p:nvSpPr>
        <p:spPr bwMode="auto">
          <a:xfrm>
            <a:off x="4295800" y="4214297"/>
            <a:ext cx="6408712" cy="620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3600" kern="0" dirty="0" err="1">
                <a:latin typeface="Calibri" panose="020F0502020204030204" pitchFamily="34" charset="0"/>
                <a:cs typeface="Calibri" panose="020F0502020204030204" pitchFamily="34" charset="0"/>
              </a:rPr>
              <a:t>ifx-traven</a:t>
            </a:r>
            <a:endParaRPr lang="en-GB" sz="3600" kern="0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698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51358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YBAQEBAQEBAQEBAQEBAQIAAAAAAAAAAwAAAAMAAAAA/////wQASwwAAAAAAAAAAAAAIAD///////////////8AAAD////////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QAAAACABAAC10GBAEGmsRCrWeMKWDzcgcFAAAAAAADAAAAAAADAAAAAwADAAEA////////BAAAAAMAEAALVNGgrCHzak+1I7mkeTCCYQU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PALAAAAAAAAAAAAACAB////////////////AAAA////////////////BAAAAAMA////////BAAAAAMA////////BAAAAAMA////////BAAAAAMA////////BAAAAAMA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BgEDAAAAAwD///////8lAAZMaW5rZWRTaGFwZVByZXNlbnRhdGlvblNldHRpbmdzRGF0YV8wBQAAAAEABAAAAAAABAAAAAIABAAAAAAA////////BAAAAAAA////////BAAAAAAA////////BAAAAAAA////////BAAAAAA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F0GBAEGmsRCrWeMKWDzcgcDRGF0YQAbAAAABExpbmtlZFNoYXBlRGF0YQAFAAAAAAACTmFtZQAZAAAATGlua2VkU2hhcGVzRGF0YVByb3BlcnR5ABBWZXJzaW9uAAAAAAAJTGFzdFdyaXRlAEHvOgOCAQAAAAE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EKGUID" val="f8120ca7-cceb-428f-a7d0-f20ce9397e1b"/>
  <p:tag name="MIO_UPDATE" val="True"/>
  <p:tag name="MIO_DBID" val="FDE84254-54DB-49E3-9A0E-CDE72035D530"/>
  <p:tag name="MIO_OBJECTNAME" val="Infineon LCD 16:9"/>
  <p:tag name="MIO_FALLBACK_LAYOUT" val="4"/>
  <p:tag name="MIO_SHOW_DATE" val="False"/>
  <p:tag name="MIO_SHOW_FOOTER" val="False"/>
  <p:tag name="MIO_SHOW_PAGENUMBER" val="False"/>
  <p:tag name="MIO_AVOID_BLANK_LAYOUT" val="False"/>
  <p:tag name="MIO_CD_LAYOUT_VALID_AREA" val="False"/>
  <p:tag name="MIO_EMBED_FONT" val="False"/>
  <p:tag name="MIO_MATCH_COLOR_SCHEME" val="True"/>
  <p:tag name="MIO_NUMBER_OF_VALID_LAYOUTS" val="18"/>
  <p:tag name="MIO_VERSION" val="13.05.2023 07:12:22"/>
  <p:tag name="MIO_LASTDOWNLOADED" val="22.05.2023 15:35:51.523"/>
  <p:tag name="MIO_CDID" val="e2fc2f9e-d5cf-4311-b3a1-0559b8fd1ab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PresentationTitle_1MIOPlaceholderMapping.2MIOPlaceholderMapping-Infineon 16:9MIOPlaceholderMapping.Presentation title 1MIOPlaceholderMapping.1MIOPlaceholderMapping;Infineon 16:9MIOPlaceholderMapping.IFX_PresentationTitle_2MIOPlaceholderMapping.3MIOPlaceholderMapping-Infineon 16:9MIOPlaceholderMapping.Presentation title 1MIOPlaceholderMapping.1MIOPlaceholderMapping;Infineon 16:9MIOPlaceholderMapping.IFX_PresentationTitle_3MIOPlaceholderMapping.4MIOPlaceholderMapping-Infineon 16:9MIOPlaceholderMapping.Presentation title 1MIOPlaceholderMapping.1MIOPlaceholderMapping;Infineon 16:9MIOPlaceholderMapping.IFX_PresentationTitle_1MIOPlaceholderMapping.2MIOPlaceholderMapping.Picture Placeholder 20MIOPlaceholderMapping.18MIOPlaceholderMapping-Infineon 16:9MIOPlaceholderMapping.Presentation title 1MIOPlaceholderMapping.1MIOPlaceholderMapping.Crystal Picture PlaceholderMIOPlaceholderMapping.15MIOPlaceholderMapping;Infineon 16:9MIOPlaceholderMapping.IFX_PresentationTitle_2MIOPlaceholderMapping.3MIOPlaceholderMapping.Picture Placeholder 20MIOPlaceholderMapping.14MIOPlaceholderMapping-Infineon 16:9MIOPlaceholderMapping.Presentation title 1MIOPlaceholderMapping.1MIOPlaceholderMapping.Crystal Picture PlaceholderMIOPlaceholderMapping.1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PresentationTitleMIOPlaceholderMapping.1MIOPlaceholderMapping-Infineon 16:9MIOPlaceholderMapping.Presentation title 3MIOPlaceholderMapping.3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OnlyMIOPlaceholderMapping.5MIOPlaceholderMapping-Infineon 16:9MIOPlaceholderMapping.Title OnlyMIOPlaceholderMapping.4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ContentMIOPlaceholderMapping.6MIOPlaceholderMapping-Infineon 16:9MIOPlaceholderMapping.Title | contentMIOPlaceholderMapping.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Two_ContentMIOPlaceholderMapping.8MIOPlaceholderMapping-Infineon 16:9MIOPlaceholderMapping.2 contentsMIOPlaceholderMapping.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SectionMIOPlaceholderMapping.9MIOPlaceholderMapping-Infineon 16:9MIOPlaceholderMapping.Section 1MIOPlaceholderMapping.7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Four_ContentMIOPlaceholderMapping.10MIOPlaceholderMapping-Infineon 16:9MIOPlaceholderMapping.4 contentsMIOPlaceholderMapping.9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Two_ColumnsMIOPlaceholderMapping.11MIOPlaceholderMapping-Infineon 16:9MIOPlaceholderMapping.Row | 2 columnsMIOPlaceholderMapping.10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Two_Columns_RowMIOPlaceholderMapping.12MIOPlaceholderMapping-Infineon 16:9MIOPlaceholderMapping.Row | 2 columns | rowMIOPlaceholderMapping.1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Three_ColumnsMIOPlaceholderMapping.13MIOPlaceholderMapping-Infineon 16:9MIOPlaceholderMapping.3 columnsMIOPlaceholderMapping.12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Three_ColumnsMIOPlaceholderMapping.14MIOPlaceholderMapping-Infineon 16:9MIOPlaceholderMapping.Row | 3 columnsMIOPlaceholderMapping.13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our_ColumnsMIOPlaceholderMapping.15MIOPlaceholderMapping-Infineon 16:9MIOPlaceholderMapping.4 columnsMIOPlaceholderMapping.14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Four_ColumnsMIOPlaceholderMapping.16MIOPlaceholderMapping-Infineon 16:9MIOPlaceholderMapping.Row | 4 columnsMIOPlaceholderMapping.1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EmptyMIOPlaceholderMapping.17MIOPlaceholderMapping-Infineon 16:9MIOPlaceholderMapping.EmptyMIOPlaceholderMapping.16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ullpicMIOPlaceholderMapping.18MIOPlaceholderMapping-Infineon 16:9MIOPlaceholderMapping.FullpicMIOPlaceholderMapping.17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72d87b0-7453-4de2-9a77-8abac1f697a2"/>
  <p:tag name="MIO_EKGUID" val="3845e535-4203-4ef5-895a-eaad52033263"/>
  <p:tag name="MIO_UPDATE" val="True"/>
  <p:tag name="MIO_VERSION" val="09.03.2023 09:38:29"/>
  <p:tag name="MIO_DBID" val="FDE84254-54DB-49E3-9A0E-CDE72035D530"/>
  <p:tag name="MIO_LASTDOWNLOADED" val="22.05.2023 18:09:29.118"/>
  <p:tag name="MIO_OBJECTNAME" val="05 Banded Rows"/>
  <p:tag name="MIO_LASTEDITORNAME" val="Verena Kohl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aacc4520-bed8-4215-a476-a176f560570f"/>
  <p:tag name="MIO_GUID" val="a4021b07-3f46-4fb8-94fe-397c100223e7"/>
  <p:tag name="MIO_UPDATE" val="True"/>
  <p:tag name="MIO_VERSION" val="05.03.2023 11:17:30"/>
  <p:tag name="MIO_DBID" val="FDE84254-54DB-49E3-9A0E-CDE72035D530"/>
  <p:tag name="MIO_LASTDOWNLOADED" val="22.05.2023 20:15:58.927"/>
  <p:tag name="MIO_OBJECTNAME" val="Send"/>
  <p:tag name="MIO_LASTEDITORNAME" val="Verena Kohl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.pptx" id="{13DFF84F-19D3-4ED7-AC51-F981DDD2DFB2}" vid="{F6438DE6-1D8E-4AE6-B966-4DDA9AE046AE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customXsn xmlns="http://schemas.microsoft.com/office/2006/metadata/customXsn">
  <xsnLocation/>
  <cached>True</cached>
  <openByDefault>False</openByDefault>
  <xsnScope/>
</customXsn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er xmlns="a709603d-609a-478b-a91d-3c5e984c0e79">0</Ver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AAE9148B404486CBFDD74AD2AA0B" ma:contentTypeVersion="2" ma:contentTypeDescription="Create a new document." ma:contentTypeScope="" ma:versionID="a24cc1775e4f53b56bd6bf310015a115">
  <xsd:schema xmlns:xsd="http://www.w3.org/2001/XMLSchema" xmlns:xs="http://www.w3.org/2001/XMLSchema" xmlns:p="http://schemas.microsoft.com/office/2006/metadata/properties" xmlns:ns2="a709603d-609a-478b-a91d-3c5e984c0e79" xmlns:ns3="6ef45842-284e-44e4-b2db-1749e7948b44" targetNamespace="http://schemas.microsoft.com/office/2006/metadata/properties" ma:root="true" ma:fieldsID="f8923fe8aa0ace7ab58ef4ccc8b43a85" ns2:_="" ns3:_="">
    <xsd:import namespace="a709603d-609a-478b-a91d-3c5e984c0e79"/>
    <xsd:import namespace="6ef45842-284e-44e4-b2db-1749e7948b44"/>
    <xsd:element name="properties">
      <xsd:complexType>
        <xsd:sequence>
          <xsd:element name="documentManagement">
            <xsd:complexType>
              <xsd:all>
                <xsd:element ref="ns2:Ver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09603d-609a-478b-a91d-3c5e984c0e79" elementFormDefault="qualified">
    <xsd:import namespace="http://schemas.microsoft.com/office/2006/documentManagement/types"/>
    <xsd:import namespace="http://schemas.microsoft.com/office/infopath/2007/PartnerControls"/>
    <xsd:element name="Ver" ma:index="8" nillable="true" ma:displayName="Ver" ma:default="0" ma:internalName="Ver" ma:percentage="FALSE">
      <xsd:simpleType>
        <xsd:restriction base="dms:Number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f45842-284e-44e4-b2db-1749e7948b44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144A13-A380-40B3-9980-61BD11F58D02}">
  <ds:schemaRefs>
    <ds:schemaRef ds:uri="http://schemas.microsoft.com/office/2006/metadata/customXsn"/>
  </ds:schemaRefs>
</ds:datastoreItem>
</file>

<file path=customXml/itemProps2.xml><?xml version="1.0" encoding="utf-8"?>
<ds:datastoreItem xmlns:ds="http://schemas.openxmlformats.org/officeDocument/2006/customXml" ds:itemID="{D299A1D5-F553-4264-9022-E0136C61CE27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http://purl.org/dc/terms/"/>
    <ds:schemaRef ds:uri="a709603d-609a-478b-a91d-3c5e984c0e79"/>
    <ds:schemaRef ds:uri="6ef45842-284e-44e4-b2db-1749e7948b44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F2014AB-78C2-4F59-9D6E-9572E72F778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709603d-609a-478b-a91d-3c5e984c0e79"/>
    <ds:schemaRef ds:uri="6ef45842-284e-44e4-b2db-1749e7948b4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584</TotalTime>
  <Words>1514</Words>
  <Application>Microsoft Office PowerPoint</Application>
  <PresentationFormat>Widescreen</PresentationFormat>
  <Paragraphs>259</Paragraphs>
  <Slides>23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Arial Black</vt:lpstr>
      <vt:lpstr>Calibri</vt:lpstr>
      <vt:lpstr>Infineon 16:9</vt:lpstr>
      <vt:lpstr>IFTW WCS issue report flow</vt:lpstr>
      <vt:lpstr>Microsoft Dynamic365</vt:lpstr>
      <vt:lpstr>Case creation – Subject</vt:lpstr>
      <vt:lpstr>Case creation – Description</vt:lpstr>
      <vt:lpstr>Case creation – Collaboration</vt:lpstr>
      <vt:lpstr>Case creation – Discussion board</vt:lpstr>
      <vt:lpstr>Case creation – Attachment</vt:lpstr>
      <vt:lpstr>Case creation – Attachment format and file size</vt:lpstr>
      <vt:lpstr>IFTW WCS Logger –  helper for log collection</vt:lpstr>
      <vt:lpstr>SOP for log collecting – The WCS PD Host E2 training</vt:lpstr>
      <vt:lpstr>SOP for log collecting – issue report flow </vt:lpstr>
      <vt:lpstr>We will …</vt:lpstr>
      <vt:lpstr>SOP for log collecting – Infineon Issue Tracker Form</vt:lpstr>
      <vt:lpstr>Infineon WCS Logger</vt:lpstr>
      <vt:lpstr>Infineon WCS Logger – Prerequisites</vt:lpstr>
      <vt:lpstr>Infineon WCS Logger – Function Flow</vt:lpstr>
      <vt:lpstr>Infineon WCS Logger – SALEAE use case (1/2)</vt:lpstr>
      <vt:lpstr>Infineon WCS Logger – SALEAE use case (2/2)</vt:lpstr>
      <vt:lpstr>SOP for log collecting – automation</vt:lpstr>
      <vt:lpstr>Logs submission</vt:lpstr>
      <vt:lpstr>Infineon WCS Logger – Limitations</vt:lpstr>
      <vt:lpstr>Questions?</vt:lpstr>
      <vt:lpstr>PowerPoint Presentation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Traven Shih</dc:creator>
  <cp:lastModifiedBy>Traven Shih</cp:lastModifiedBy>
  <cp:revision>174</cp:revision>
  <dcterms:created xsi:type="dcterms:W3CDTF">2023-05-22T10:06:33Z</dcterms:created>
  <dcterms:modified xsi:type="dcterms:W3CDTF">2023-08-09T02:04:42Z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0x010100A655AAE9148B404486CBFDD74AD2AA0B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2023-03-18T12:11:36Z</vt:filetime>
  </property>
  <property fmtid="{D5CDD505-2E9C-101B-9397-08002B2CF9AE}" pid="15" name="empower.integration.Classification.DateFormat">
    <vt:lpwstr>d MMM yyyy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true</vt:lpwstr>
  </property>
  <property fmtid="{D5CDD505-2E9C-101B-9397-08002B2CF9AE}" pid="23" name="MSIP_Label_a15a25aa-e944-415d-b7a7-40f6b9180b6b_SetDate">
    <vt:lpwstr>2023-03-24T13:40:28Z</vt:lpwstr>
  </property>
  <property fmtid="{D5CDD505-2E9C-101B-9397-08002B2CF9AE}" pid="24" name="MSIP_Label_a15a25aa-e944-415d-b7a7-40f6b9180b6b_Method">
    <vt:lpwstr>Standard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73b1d637-b020-4fda-a205-ff5e02ff8705</vt:lpwstr>
  </property>
  <property fmtid="{D5CDD505-2E9C-101B-9397-08002B2CF9AE}" pid="28" name="MSIP_Label_a15a25aa-e944-415d-b7a7-40f6b9180b6b_ContentBits">
    <vt:lpwstr>0</vt:lpwstr>
  </property>
</Properties>
</file>